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8ccefd7-1440-ed7d-c263-58b72abfa6f7}">
          <p14:sldIdLst>
            <p14:sldId id="256"/>
            <p14:sldId id="257"/>
            <p14:sldId id="258"/>
            <p14:sldId id="259"/>
            <p14:sldId id="260"/>
          </p14:sldIdLst>
        </p14:section>
        <p14:section name="Demonstração" id="{2ba06b52-de39-ccc7-d3ad-3284f9c6fd8c}">
          <p14:sldIdLst>
            <p14:sldId id="261"/>
            <p14:sldId id="262"/>
            <p14:sldId id="263"/>
            <p14:sldId id="264"/>
            <p14:sldId id="265"/>
          </p14:sldIdLst>
        </p14:section>
        <p14:section name="Como foi construído" id="{41a4ac94-36a4-be4d-984c-5b8bbc4d52cc}">
          <p14:sldIdLst>
            <p14:sldId id="266"/>
            <p14:sldId id="267"/>
            <p14:sldId id="268"/>
            <p14:sldId id="269"/>
          </p14:sldIdLst>
        </p14:section>
        <p14:section name="Fechamento" id="{6da5b33b-0a28-91c2-cc70-ebd459a355e7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tarde! Meu nome é Claudeir dos Santos e o meu projeto é o Home Care Flow: tecnologia e cuidado em harmonia.
É um sistema para empresas de cuidado domiciliar organizarem o trabalho da equipe: da escala até o pagamento.
(Tempo: 20 segundos. Respire, olhe para a banca.)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para a banca: vocês já pensaram em como funciona o dia a dia de um cuidador que atende pacientes em casa?
Em muitas equipes o ponto é anotado num papel, o que dá margem para erro e até fraude. As anotações do plantão ficam num caderno, cada um escreve de um jeito. E o pagamento é combinado pelo WhatsApp: no fim do mês ninguém sabe ao certo quantas horas foram trabalhadas.
Quem mais perde é o profissional, que não consegue comprovar o próprio trabalho.
(Tempo: 1 minuto. Edital seção 5: o problema.)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Home Care Flow cobre o trabalho de ponta a ponta. O gestor monta a escala. No dia, o profissional chega na casa e faz o check-in pelo QR Code fixado na residência ou pelo GPS. Durante o plantão, registra o prontuário padronizado. Na saída, faz o check-out, e as horas daquele plantão já entram no pagamento do mês.
E cada pessoa vê só o que precisa: o administrador vê tudo, o gestor cuida da operação e o técnico vê só o próprio trabalho.
(Tempo: 40 segundos.)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está alinhado principalmente à ODS 8, Trabalho Decente e Crescimento Econômico. O sistema formaliza a jornada desses profissionais: a entrada e a saída ficam registradas e o pagamento é calculado pelas horas reais.
Também conversa com a ODS 10, Redução das Desigualdades: é uma categoria muito informal, e ter as horas registradas dá segurança de renda.
Se perguntarem sobre a restrição de saúde: pedi autorização para esse tema e ela foi concedida. O foco é a gestão do trabalho de quem cuida, não o diagnóstico ou o tratamento.
(Tempo: 50 segundos. Edital seções 1, 2 e 5.)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público são os cuidadores e técnicos de enfermagem, todos adultos, e os gestores de pequenas agências de cuidado domiciliar. As famílias ganham indiretamente, com um histórico claro do atendimento.
O impacto que eu espero: fim do ponto em papel; um pagamento justo, que o próprio profissional consegue conferir; um histórico padronizado; e mais profissionalização para um setor que ainda é muito informal.
(Tempo: 40 segundos. Edital seção 5: público e impacto.)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vou mostrar o sistema funcionando, ao vivo e na nuvem. Primeiro como gestora: o painel, o CRUD de escalas e o financeiro. Depois como técnica: o check-in, o prontuário e os ganhos.
(Troque para o navegador. Se o site demorar, a API gratuita está "acordando": fale da arquitetura enquanto isso.)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CLIQUE: entrar com admin@homecareflow.com / 123456.
Aqui é o painel da gestora: os indicadores do dia, o gráfico de escalas previstas versus plantões realizados e a agenda de hoje.
Nos pontos de atenção, o sistema avisa sozinho que um check-in foi feito a 2,4 km da casa do paciente e que um plantão terminou sem prontuário.
Embaixo fica a auditoria: quem fez o quê e quando. Isso é importante para a LGPD.
(Tempo: 50 segundos.)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CRUD completo que o edital pede, funcionando todo pela tela.
CLIQUE: Escalas → Nova escala → paciente, profissional, data futura e turno → Criar. "Aqui eu crio..."
Mostrar na tabela e usar o filtro de status. "...listo e filtro..."
CLIQUE no lápis → trocar o turno → Salvar. "...edito..."
Tentar criar outra igual: "o sistema não deixa duplicar, a regra está na API".
CLIQUE na lixeira → confirmar. "...e excluo, com confirmação."
Pacientes e Cuidadores também têm CRUD completo.
(Tempo: 1 minuto e 30. Requisito mais importante do edital.)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CLIQUE: Sair → entrar com juliana@homecareflow.com / 123456.
Agora eu sou a Juliana, técnica de enfermagem. O menu dela é menor: ela não vê a lista de cuidadores nem o financeiro da empresa, só os pacientes que atende.
Ao chegar na casa, ela faz o check-in lendo o QR Code com a câmera do celular. Se o código não for daquela casa, o sistema recusa.
CLIQUE: Plantões → QR Code → aba "Digitar código" → QR-PAC-0001 → Confirmar.
Por GPS, a API calcula a distância até a casa: longe demais vira alerta para a gestão.
(Tempo: 50 segundos.)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CLIQUE: Prontuários → plantão "em andamento" → pressão, temperatura e observação → Registrar.
Durante o plantão ela faz o registro padronizado, que já aparece no histórico do paciente.
CLIQUE: Plantões → Check-out. Na saída, o check-out, e essas horas já entram no fechamento do mês.
CLIQUE: Meus ganhos. Esse é o coração da ODS 8: ela acompanha as próprias horas e o valor, calculado automaticamente.
(Opcional, como admin: Relatórios → demonstrativo → Marcar como pago → Exportar CSV.)
(Tempo: 1 minuto.)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Tecnicamente, usei as três tecnologias da formação. O React no front, o Node.js com Express na API e o MySQL no banco.
E está tudo publicado na nuvem: o site na Vercel, a API no Render e o banco no Aiven. Por isso estou acessando por um link, e não pelo meu computador.
Cada clique na tela faz uma requisição com o token de login; a API confere quem é a pessoa, o perfil e os dados, grava no MySQL e devolve a resposta.
(Tempo: 30 segundos. Edital seção 3.)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banco tem 8 tabelas relacionadas: usuários, profissionais, pacientes, escalas, plantões, prontuários, pagamentos e auditoria.
Uso chaves estrangeiras e transações: no check-in, três tabelas mudam juntas (o plantão, o status da escala e o do profissional); se uma falhar, nada é gravado.
Pacientes e profissionais nunca são apagados de verdade, só desativados, para não perder o histórico.
(Tempo: 30 segundos. Edital seção 4.1.)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API é REST e está organizada em camadas: as rotas definem o caminho, os middlewares conferem o login e o perfil, os controllers validam os dados e aplicam as regras, e os models fazem o SQL.
As senhas ficam criptografadas com bcrypt, o login usa JWT, tem limite de tentativas, e as permissões por perfil estão na API: testei 39 regras.
A documentação está no Swagger e o backend tem testes automatizados.
(Tempo: 30 segundos.)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front é todo componentizado, como o edital pede: navbar, cards, formulários, botões, tabelas, modais e footer são componentes que eu reaproveito em todas as telas. A mesma tabela serve para escalas, cuidadores e pagamentos; o mesmo modal serve para editar e para confirmar exclusões.
E como o cuidador usa o celular na casa do paciente, o sistema é um PWA: dá para instalar como aplicativo.
(Bônus: mostre o celular com o app instalado.)
(Tempo: 30 segundos. Edital seção 4.3.)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 o que o edital pede e como o projeto atende: ODS 8 e 10; tema autorizado e público adulto; MySQL, Node e React; 8 tabelas relacionadas; e no lugar de um CRUD, três CRUDs completos funcionando pela interface; os sete componentes pedidos; e a proposta explicada com problema, ODS, público e impacto.
(Tempo: 20 segundos. Use se a banca pedir para conferir os requisitos.)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(Slide de apoio: use se sobrar tempo ou se a banca perguntar sobre os critérios.)
A organização está nas camadas; o funcionamento, na nuvem e no celular; a qualidade, nas validações, transações, testes e documentação; a criatividade, no QR Code da casa, no GPS com distância e no "Meus ganhos"; e o impacto, na ODS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próximos passos, quero transformar o sistema num aplicativo que funcione mesmo sem internet, buscar a localização da casa pelo endereço, mandar lembretes do plantão e avisos de pagamento, e completar a parte de LGPD com o termo de consentimento.
(Tempo: 20 segundos.)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Home Care Flow mostra que tecnologia simples, bem aplicada, pode dar dignidade e transparência para quem cuida.
Se quiserem testar, é só apontar a câmera do celular para o QR Code. Obrigado! Fico à disposição para perguntas.
(Perguntas prováveis e respostas: veja o guia em PDF, página "Perguntas prováveis da banca".)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C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1C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71323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Flow · Claudeir dos Santos · Projeto Final Aranduê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3" name="Image 0" descr="C:\Users\ClaudeirZ2\AppData\Local\Temp\claude\C--Users-ClaudeirZ2-PycharmProjects-Curso-Recode-homecare-flow\925409f3-b663-466e-aa0b-b8662a4dc5e0\scratchpad\slides\img\logo-ic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Flow · Claudeir dos Santos · Projeto Final Aranduê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-logo"/>
          <p:cNvSpPr/>
          <p:nvPr/>
        </p:nvSpPr>
        <p:spPr>
          <a:xfrm>
            <a:off x="822960" y="822960"/>
            <a:ext cx="3017520" cy="2926080"/>
          </a:xfrm>
          <a:prstGeom prst="roundRect">
            <a:avLst>
              <a:gd name="adj" fmla="val 7813"/>
            </a:avLst>
          </a:prstGeom>
          <a:solidFill>
            <a:schemeClr val="bg1"/>
          </a:solidFill>
          <a:ln/>
        </p:spPr>
      </p:sp>
      <p:pic>
        <p:nvPicPr>
          <p:cNvPr id="3" name="logo" descr="C:\Users\ClaudeirZ2\AppData\Local\Temp\claude\C--Users-ClaudeirZ2-PycharmProjects-Curso-Recode-homecare-flow\925409f3-b663-466e-aa0b-b8662a4dc5e0\scratchpad\slides\img\logo-compl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05840"/>
            <a:ext cx="2560320" cy="2487168"/>
          </a:xfrm>
          <a:prstGeom prst="rect">
            <a:avLst/>
          </a:prstGeom>
        </p:spPr>
      </p:pic>
      <p:sp>
        <p:nvSpPr>
          <p:cNvPr id="4" name="titulo-capa"/>
          <p:cNvSpPr txBox="1"/>
          <p:nvPr/>
        </p:nvSpPr>
        <p:spPr>
          <a:xfrm>
            <a:off x="4389120" y="118872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cuidado domiciliar, do plantão ao pagamento</a:t>
            </a:r>
            <a:endParaRPr lang="en-US" sz="4000" dirty="0"/>
          </a:p>
        </p:txBody>
      </p:sp>
      <p:sp>
        <p:nvSpPr>
          <p:cNvPr id="5" name="subtitulo-capa"/>
          <p:cNvSpPr txBox="1"/>
          <p:nvPr/>
        </p:nvSpPr>
        <p:spPr>
          <a:xfrm>
            <a:off x="4389120" y="28803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Escalas, check-in por GPS ou QR Code, prontuário padronizado e pagamento calculado pelas horas reais trabalhadas.</a:t>
            </a:r>
            <a:endParaRPr lang="en-US" sz="1800" dirty="0"/>
          </a:p>
        </p:txBody>
      </p:sp>
      <p:sp>
        <p:nvSpPr>
          <p:cNvPr id="6" name="tag-ODS 8 · ODS 10"/>
          <p:cNvSpPr/>
          <p:nvPr/>
        </p:nvSpPr>
        <p:spPr>
          <a:xfrm>
            <a:off x="4389120" y="4069080"/>
            <a:ext cx="1700784" cy="384048"/>
          </a:xfrm>
          <a:prstGeom prst="roundRect">
            <a:avLst>
              <a:gd name="adj" fmla="val 50000"/>
            </a:avLst>
          </a:prstGeom>
          <a:solidFill>
            <a:srgbClr val="2D4A63"/>
          </a:solidFill>
          <a:ln w="9525">
            <a:solidFill>
              <a:srgbClr val="4F6B85"/>
            </a:solidFill>
            <a:prstDash val="solid"/>
          </a:ln>
        </p:spPr>
      </p:sp>
      <p:sp>
        <p:nvSpPr>
          <p:cNvPr id="7" name="tag-texto-ODS 8 · ODS 10"/>
          <p:cNvSpPr txBox="1"/>
          <p:nvPr/>
        </p:nvSpPr>
        <p:spPr>
          <a:xfrm>
            <a:off x="4389120" y="406908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8 · ODS 10</a:t>
            </a:r>
            <a:endParaRPr lang="en-US" sz="1300" dirty="0"/>
          </a:p>
        </p:txBody>
      </p:sp>
      <p:sp>
        <p:nvSpPr>
          <p:cNvPr id="8" name="tag-MySQL"/>
          <p:cNvSpPr/>
          <p:nvPr/>
        </p:nvSpPr>
        <p:spPr>
          <a:xfrm>
            <a:off x="6227064" y="4069080"/>
            <a:ext cx="754380" cy="384048"/>
          </a:xfrm>
          <a:prstGeom prst="roundRect">
            <a:avLst>
              <a:gd name="adj" fmla="val 50000"/>
            </a:avLst>
          </a:prstGeom>
          <a:solidFill>
            <a:srgbClr val="2D4A63"/>
          </a:solidFill>
          <a:ln w="9525">
            <a:solidFill>
              <a:srgbClr val="4F6B85"/>
            </a:solidFill>
            <a:prstDash val="solid"/>
          </a:ln>
        </p:spPr>
      </p:sp>
      <p:sp>
        <p:nvSpPr>
          <p:cNvPr id="9" name="tag-texto-MySQL"/>
          <p:cNvSpPr txBox="1"/>
          <p:nvPr/>
        </p:nvSpPr>
        <p:spPr>
          <a:xfrm>
            <a:off x="6227064" y="4069080"/>
            <a:ext cx="75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0" name="tag-Node.js"/>
          <p:cNvSpPr/>
          <p:nvPr/>
        </p:nvSpPr>
        <p:spPr>
          <a:xfrm>
            <a:off x="7118604" y="4069080"/>
            <a:ext cx="964692" cy="384048"/>
          </a:xfrm>
          <a:prstGeom prst="roundRect">
            <a:avLst>
              <a:gd name="adj" fmla="val 50000"/>
            </a:avLst>
          </a:prstGeom>
          <a:solidFill>
            <a:srgbClr val="2D4A63"/>
          </a:solidFill>
          <a:ln w="9525">
            <a:solidFill>
              <a:srgbClr val="4F6B85"/>
            </a:solidFill>
            <a:prstDash val="solid"/>
          </a:ln>
        </p:spPr>
      </p:sp>
      <p:sp>
        <p:nvSpPr>
          <p:cNvPr id="11" name="tag-texto-Node.js"/>
          <p:cNvSpPr txBox="1"/>
          <p:nvPr/>
        </p:nvSpPr>
        <p:spPr>
          <a:xfrm>
            <a:off x="7118604" y="4069080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2" name="tag-ReactJS"/>
          <p:cNvSpPr/>
          <p:nvPr/>
        </p:nvSpPr>
        <p:spPr>
          <a:xfrm>
            <a:off x="8220456" y="4069080"/>
            <a:ext cx="964692" cy="384048"/>
          </a:xfrm>
          <a:prstGeom prst="roundRect">
            <a:avLst>
              <a:gd name="adj" fmla="val 50000"/>
            </a:avLst>
          </a:prstGeom>
          <a:solidFill>
            <a:srgbClr val="2D4A63"/>
          </a:solidFill>
          <a:ln w="9525">
            <a:solidFill>
              <a:srgbClr val="4F6B85"/>
            </a:solidFill>
            <a:prstDash val="solid"/>
          </a:ln>
        </p:spPr>
      </p:sp>
      <p:sp>
        <p:nvSpPr>
          <p:cNvPr id="13" name="tag-texto-ReactJS"/>
          <p:cNvSpPr txBox="1"/>
          <p:nvPr/>
        </p:nvSpPr>
        <p:spPr>
          <a:xfrm>
            <a:off x="8220456" y="4069080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</a:t>
            </a:r>
            <a:endParaRPr lang="en-US" sz="1300" dirty="0"/>
          </a:p>
        </p:txBody>
      </p:sp>
      <p:sp>
        <p:nvSpPr>
          <p:cNvPr id="14" name="tag-Na nuvem"/>
          <p:cNvSpPr/>
          <p:nvPr/>
        </p:nvSpPr>
        <p:spPr>
          <a:xfrm>
            <a:off x="9322308" y="4069080"/>
            <a:ext cx="1069848" cy="384048"/>
          </a:xfrm>
          <a:prstGeom prst="roundRect">
            <a:avLst>
              <a:gd name="adj" fmla="val 50000"/>
            </a:avLst>
          </a:prstGeom>
          <a:solidFill>
            <a:srgbClr val="2D4A63"/>
          </a:solidFill>
          <a:ln w="9525">
            <a:solidFill>
              <a:srgbClr val="4F6B85"/>
            </a:solidFill>
            <a:prstDash val="solid"/>
          </a:ln>
        </p:spPr>
      </p:sp>
      <p:sp>
        <p:nvSpPr>
          <p:cNvPr id="15" name="tag-texto-Na nuvem"/>
          <p:cNvSpPr txBox="1"/>
          <p:nvPr/>
        </p:nvSpPr>
        <p:spPr>
          <a:xfrm>
            <a:off x="9322308" y="406908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nuvem</a:t>
            </a:r>
            <a:endParaRPr lang="en-US" sz="1300" dirty="0"/>
          </a:p>
        </p:txBody>
      </p:sp>
      <p:sp>
        <p:nvSpPr>
          <p:cNvPr id="16" name="autor"/>
          <p:cNvSpPr txBox="1"/>
          <p:nvPr/>
        </p:nvSpPr>
        <p:spPr>
          <a:xfrm>
            <a:off x="822960" y="5349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Claudeir dos Santos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Aranduê — Recode Pro AI</a:t>
            </a:r>
            <a:endParaRPr lang="en-US" sz="2000" dirty="0"/>
          </a:p>
        </p:txBody>
      </p:sp>
      <p:sp>
        <p:nvSpPr>
          <p:cNvPr id="17" name="link-capa"/>
          <p:cNvSpPr txBox="1"/>
          <p:nvPr/>
        </p:nvSpPr>
        <p:spPr>
          <a:xfrm>
            <a:off x="786384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8EE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homecare-flow.vercel.app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o trabalho de quem cuida se perde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muitas equipes de home care, tudo ainda é feito "na mão"</a:t>
            </a:r>
            <a:endParaRPr lang="en-US" sz="1600" dirty="0"/>
          </a:p>
        </p:txBody>
      </p:sp>
      <p:sp>
        <p:nvSpPr>
          <p:cNvPr id="4" name="cartao-problema-0"/>
          <p:cNvSpPr/>
          <p:nvPr/>
        </p:nvSpPr>
        <p:spPr>
          <a:xfrm>
            <a:off x="548640" y="182880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5" name="selo-LuClock"/>
          <p:cNvSpPr/>
          <p:nvPr/>
        </p:nvSpPr>
        <p:spPr>
          <a:xfrm>
            <a:off x="868680" y="2148840"/>
            <a:ext cx="68580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pic>
        <p:nvPicPr>
          <p:cNvPr id="6" name="icone-Lu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299716"/>
            <a:ext cx="384048" cy="384048"/>
          </a:xfrm>
          <a:prstGeom prst="rect">
            <a:avLst/>
          </a:prstGeom>
        </p:spPr>
      </p:pic>
      <p:sp>
        <p:nvSpPr>
          <p:cNvPr id="7" name="titulo-problema-0"/>
          <p:cNvSpPr txBox="1"/>
          <p:nvPr/>
        </p:nvSpPr>
        <p:spPr>
          <a:xfrm>
            <a:off x="86868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em papel</a:t>
            </a:r>
            <a:endParaRPr lang="en-US" sz="2000" dirty="0"/>
          </a:p>
        </p:txBody>
      </p:sp>
      <p:sp>
        <p:nvSpPr>
          <p:cNvPr id="8" name="texto-problema-0"/>
          <p:cNvSpPr txBox="1"/>
          <p:nvPr/>
        </p:nvSpPr>
        <p:spPr>
          <a:xfrm>
            <a:off x="86868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entrada e a saída são anotadas à mão: dá margem para erro, perda e até fraude de horário.</a:t>
            </a:r>
            <a:endParaRPr lang="en-US" sz="1500" dirty="0"/>
          </a:p>
        </p:txBody>
      </p:sp>
      <p:sp>
        <p:nvSpPr>
          <p:cNvPr id="9" name="cartao-problema-1"/>
          <p:cNvSpPr/>
          <p:nvPr/>
        </p:nvSpPr>
        <p:spPr>
          <a:xfrm>
            <a:off x="4297680" y="182880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0" name="selo-LuFileText"/>
          <p:cNvSpPr/>
          <p:nvPr/>
        </p:nvSpPr>
        <p:spPr>
          <a:xfrm>
            <a:off x="4617720" y="2148840"/>
            <a:ext cx="68580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pic>
        <p:nvPicPr>
          <p:cNvPr id="11" name="icone-LuFileTex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299716"/>
            <a:ext cx="384048" cy="384048"/>
          </a:xfrm>
          <a:prstGeom prst="rect">
            <a:avLst/>
          </a:prstGeom>
        </p:spPr>
      </p:pic>
      <p:sp>
        <p:nvSpPr>
          <p:cNvPr id="12" name="titulo-problema-1"/>
          <p:cNvSpPr txBox="1"/>
          <p:nvPr/>
        </p:nvSpPr>
        <p:spPr>
          <a:xfrm>
            <a:off x="461772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 sem padrão</a:t>
            </a:r>
            <a:endParaRPr lang="en-US" sz="2000" dirty="0"/>
          </a:p>
        </p:txBody>
      </p:sp>
      <p:sp>
        <p:nvSpPr>
          <p:cNvPr id="13" name="texto-problema-1"/>
          <p:cNvSpPr txBox="1"/>
          <p:nvPr/>
        </p:nvSpPr>
        <p:spPr>
          <a:xfrm>
            <a:off x="461772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no plantão fica num caderno, cada profissional escreve de um jeito.</a:t>
            </a:r>
            <a:endParaRPr lang="en-US" sz="1500" dirty="0"/>
          </a:p>
        </p:txBody>
      </p:sp>
      <p:sp>
        <p:nvSpPr>
          <p:cNvPr id="14" name="cartao-problema-2"/>
          <p:cNvSpPr/>
          <p:nvPr/>
        </p:nvSpPr>
        <p:spPr>
          <a:xfrm>
            <a:off x="8046720" y="1828800"/>
            <a:ext cx="347472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5" name="selo-LuMessageCircle"/>
          <p:cNvSpPr/>
          <p:nvPr/>
        </p:nvSpPr>
        <p:spPr>
          <a:xfrm>
            <a:off x="8366760" y="2148840"/>
            <a:ext cx="68580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pic>
        <p:nvPicPr>
          <p:cNvPr id="16" name="icone-LuMessage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2299716"/>
            <a:ext cx="384048" cy="384048"/>
          </a:xfrm>
          <a:prstGeom prst="rect">
            <a:avLst/>
          </a:prstGeom>
        </p:spPr>
      </p:pic>
      <p:sp>
        <p:nvSpPr>
          <p:cNvPr id="17" name="titulo-problema-2"/>
          <p:cNvSpPr txBox="1"/>
          <p:nvPr/>
        </p:nvSpPr>
        <p:spPr>
          <a:xfrm>
            <a:off x="836676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 pelo WhatsApp</a:t>
            </a:r>
            <a:endParaRPr lang="en-US" sz="2000" dirty="0"/>
          </a:p>
        </p:txBody>
      </p:sp>
      <p:sp>
        <p:nvSpPr>
          <p:cNvPr id="18" name="texto-problema-2"/>
          <p:cNvSpPr txBox="1"/>
          <p:nvPr/>
        </p:nvSpPr>
        <p:spPr>
          <a:xfrm>
            <a:off x="836676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do mês ninguém sabe ao certo quantas horas foram trabalhadas.</a:t>
            </a:r>
            <a:endParaRPr lang="en-US" sz="1500" dirty="0"/>
          </a:p>
        </p:txBody>
      </p:sp>
      <p:sp>
        <p:nvSpPr>
          <p:cNvPr id="19" name="faixa-conclusao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C2E3E"/>
          </a:solidFill>
          <a:ln/>
        </p:spPr>
      </p:sp>
      <p:sp>
        <p:nvSpPr>
          <p:cNvPr id="20" name="selo-LuScale"/>
          <p:cNvSpPr/>
          <p:nvPr/>
        </p:nvSpPr>
        <p:spPr>
          <a:xfrm>
            <a:off x="822960" y="5138928"/>
            <a:ext cx="603504" cy="603504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pic>
        <p:nvPicPr>
          <p:cNvPr id="21" name="icone-LuSca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31" y="5271699"/>
            <a:ext cx="337962" cy="337962"/>
          </a:xfrm>
          <a:prstGeom prst="rect">
            <a:avLst/>
          </a:prstGeom>
        </p:spPr>
      </p:pic>
      <p:sp>
        <p:nvSpPr>
          <p:cNvPr id="22" name="conclusao-problema"/>
          <p:cNvSpPr txBox="1"/>
          <p:nvPr/>
        </p:nvSpPr>
        <p:spPr>
          <a:xfrm>
            <a:off x="1645920" y="4937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E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mais perde é o profissional: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consegue comprovar o próprio trabalho, nem conferir o que vai receber.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do plantão ao pagamento em um só sistema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do trabalho fica registrada e conectada à próxima</a:t>
            </a:r>
            <a:endParaRPr lang="en-US" sz="1600" dirty="0"/>
          </a:p>
        </p:txBody>
      </p:sp>
      <p:sp>
        <p:nvSpPr>
          <p:cNvPr id="4" name="etapa-0"/>
          <p:cNvSpPr/>
          <p:nvPr/>
        </p:nvSpPr>
        <p:spPr>
          <a:xfrm>
            <a:off x="548640" y="1965960"/>
            <a:ext cx="2029968" cy="30632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5" name="num-etapa-0"/>
          <p:cNvSpPr txBox="1"/>
          <p:nvPr/>
        </p:nvSpPr>
        <p:spPr>
          <a:xfrm>
            <a:off x="77724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elo-LuCalendarDays"/>
          <p:cNvSpPr/>
          <p:nvPr/>
        </p:nvSpPr>
        <p:spPr>
          <a:xfrm>
            <a:off x="1175004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pic>
        <p:nvPicPr>
          <p:cNvPr id="7" name="icone-LuCalendarDay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997" y="2731313"/>
            <a:ext cx="435254" cy="435254"/>
          </a:xfrm>
          <a:prstGeom prst="rect">
            <a:avLst/>
          </a:prstGeom>
        </p:spPr>
      </p:pic>
      <p:sp>
        <p:nvSpPr>
          <p:cNvPr id="8" name="nome-etapa-0"/>
          <p:cNvSpPr txBox="1"/>
          <p:nvPr/>
        </p:nvSpPr>
        <p:spPr>
          <a:xfrm>
            <a:off x="685800" y="35204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900" dirty="0"/>
          </a:p>
        </p:txBody>
      </p:sp>
      <p:sp>
        <p:nvSpPr>
          <p:cNvPr id="9" name="texto-etapa-0"/>
          <p:cNvSpPr txBox="1"/>
          <p:nvPr/>
        </p:nvSpPr>
        <p:spPr>
          <a:xfrm>
            <a:off x="731520" y="397764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gestor define quem atende quem, em qual dia e turno</a:t>
            </a:r>
            <a:endParaRPr lang="en-US" sz="1300" dirty="0"/>
          </a:p>
        </p:txBody>
      </p:sp>
      <p:sp>
        <p:nvSpPr>
          <p:cNvPr id="10" name="seta-0"/>
          <p:cNvSpPr/>
          <p:nvPr/>
        </p:nvSpPr>
        <p:spPr>
          <a:xfrm>
            <a:off x="2624328" y="3337560"/>
            <a:ext cx="137160" cy="274320"/>
          </a:xfrm>
          <a:prstGeom prst="rtTriangle">
            <a:avLst/>
          </a:prstGeom>
          <a:solidFill>
            <a:schemeClr val="accent1"/>
          </a:solidFill>
          <a:ln/>
        </p:spPr>
      </p:sp>
      <p:sp>
        <p:nvSpPr>
          <p:cNvPr id="11" name="etapa-1"/>
          <p:cNvSpPr/>
          <p:nvPr/>
        </p:nvSpPr>
        <p:spPr>
          <a:xfrm>
            <a:off x="2807208" y="1965960"/>
            <a:ext cx="2029968" cy="30632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2" name="num-etapa-1"/>
          <p:cNvSpPr txBox="1"/>
          <p:nvPr/>
        </p:nvSpPr>
        <p:spPr>
          <a:xfrm>
            <a:off x="3035808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elo-LuQrCode"/>
          <p:cNvSpPr/>
          <p:nvPr/>
        </p:nvSpPr>
        <p:spPr>
          <a:xfrm>
            <a:off x="3433572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pic>
        <p:nvPicPr>
          <p:cNvPr id="14" name="icone-LuQrCo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565" y="2731313"/>
            <a:ext cx="435254" cy="435254"/>
          </a:xfrm>
          <a:prstGeom prst="rect">
            <a:avLst/>
          </a:prstGeom>
        </p:spPr>
      </p:pic>
      <p:sp>
        <p:nvSpPr>
          <p:cNvPr id="15" name="nome-etapa-1"/>
          <p:cNvSpPr txBox="1"/>
          <p:nvPr/>
        </p:nvSpPr>
        <p:spPr>
          <a:xfrm>
            <a:off x="2944368" y="35204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900" dirty="0"/>
          </a:p>
        </p:txBody>
      </p:sp>
      <p:sp>
        <p:nvSpPr>
          <p:cNvPr id="16" name="texto-etapa-1"/>
          <p:cNvSpPr txBox="1"/>
          <p:nvPr/>
        </p:nvSpPr>
        <p:spPr>
          <a:xfrm>
            <a:off x="2990088" y="397764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casa do paciente, por QR Code ou GPS (com a distância)</a:t>
            </a:r>
            <a:endParaRPr lang="en-US" sz="1300" dirty="0"/>
          </a:p>
        </p:txBody>
      </p:sp>
      <p:sp>
        <p:nvSpPr>
          <p:cNvPr id="17" name="seta-1"/>
          <p:cNvSpPr/>
          <p:nvPr/>
        </p:nvSpPr>
        <p:spPr>
          <a:xfrm>
            <a:off x="4882896" y="3337560"/>
            <a:ext cx="137160" cy="274320"/>
          </a:xfrm>
          <a:prstGeom prst="rtTriangle">
            <a:avLst/>
          </a:prstGeom>
          <a:solidFill>
            <a:schemeClr val="accent1"/>
          </a:solidFill>
          <a:ln/>
        </p:spPr>
      </p:sp>
      <p:sp>
        <p:nvSpPr>
          <p:cNvPr id="18" name="etapa-2"/>
          <p:cNvSpPr/>
          <p:nvPr/>
        </p:nvSpPr>
        <p:spPr>
          <a:xfrm>
            <a:off x="5065776" y="1965960"/>
            <a:ext cx="2029968" cy="30632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9" name="num-etapa-2"/>
          <p:cNvSpPr txBox="1"/>
          <p:nvPr/>
        </p:nvSpPr>
        <p:spPr>
          <a:xfrm>
            <a:off x="5294376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elo-LuClipboardList"/>
          <p:cNvSpPr/>
          <p:nvPr/>
        </p:nvSpPr>
        <p:spPr>
          <a:xfrm>
            <a:off x="5692140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pic>
        <p:nvPicPr>
          <p:cNvPr id="21" name="icone-LuClipboardLis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33" y="2731313"/>
            <a:ext cx="435254" cy="435254"/>
          </a:xfrm>
          <a:prstGeom prst="rect">
            <a:avLst/>
          </a:prstGeom>
        </p:spPr>
      </p:pic>
      <p:sp>
        <p:nvSpPr>
          <p:cNvPr id="22" name="nome-etapa-2"/>
          <p:cNvSpPr txBox="1"/>
          <p:nvPr/>
        </p:nvSpPr>
        <p:spPr>
          <a:xfrm>
            <a:off x="5202936" y="35204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</a:t>
            </a:r>
            <a:endParaRPr lang="en-US" sz="1900" dirty="0"/>
          </a:p>
        </p:txBody>
      </p:sp>
      <p:sp>
        <p:nvSpPr>
          <p:cNvPr id="23" name="texto-etapa-2"/>
          <p:cNvSpPr txBox="1"/>
          <p:nvPr/>
        </p:nvSpPr>
        <p:spPr>
          <a:xfrm>
            <a:off x="5248656" y="397764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padronizado: sinais vitais, medicação e observações</a:t>
            </a:r>
            <a:endParaRPr lang="en-US" sz="1300" dirty="0"/>
          </a:p>
        </p:txBody>
      </p:sp>
      <p:sp>
        <p:nvSpPr>
          <p:cNvPr id="24" name="seta-2"/>
          <p:cNvSpPr/>
          <p:nvPr/>
        </p:nvSpPr>
        <p:spPr>
          <a:xfrm>
            <a:off x="7141464" y="3337560"/>
            <a:ext cx="137160" cy="274320"/>
          </a:xfrm>
          <a:prstGeom prst="rtTriangle">
            <a:avLst/>
          </a:prstGeom>
          <a:solidFill>
            <a:schemeClr val="accent1"/>
          </a:solidFill>
          <a:ln/>
        </p:spPr>
      </p:sp>
      <p:sp>
        <p:nvSpPr>
          <p:cNvPr id="25" name="etapa-3"/>
          <p:cNvSpPr/>
          <p:nvPr/>
        </p:nvSpPr>
        <p:spPr>
          <a:xfrm>
            <a:off x="7324344" y="1965960"/>
            <a:ext cx="2029968" cy="30632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6" name="num-etapa-3"/>
          <p:cNvSpPr txBox="1"/>
          <p:nvPr/>
        </p:nvSpPr>
        <p:spPr>
          <a:xfrm>
            <a:off x="7552944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elo-LuLogOut"/>
          <p:cNvSpPr/>
          <p:nvPr/>
        </p:nvSpPr>
        <p:spPr>
          <a:xfrm>
            <a:off x="7950708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pic>
        <p:nvPicPr>
          <p:cNvPr id="28" name="icone-LuLogOu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01" y="2731313"/>
            <a:ext cx="435254" cy="435254"/>
          </a:xfrm>
          <a:prstGeom prst="rect">
            <a:avLst/>
          </a:prstGeom>
        </p:spPr>
      </p:pic>
      <p:sp>
        <p:nvSpPr>
          <p:cNvPr id="29" name="nome-etapa-3"/>
          <p:cNvSpPr txBox="1"/>
          <p:nvPr/>
        </p:nvSpPr>
        <p:spPr>
          <a:xfrm>
            <a:off x="7461504" y="35204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</a:t>
            </a:r>
            <a:endParaRPr lang="en-US" sz="1900" dirty="0"/>
          </a:p>
        </p:txBody>
      </p:sp>
      <p:sp>
        <p:nvSpPr>
          <p:cNvPr id="30" name="texto-etapa-3"/>
          <p:cNvSpPr txBox="1"/>
          <p:nvPr/>
        </p:nvSpPr>
        <p:spPr>
          <a:xfrm>
            <a:off x="7507224" y="397764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fecha o plantão e as horas ficam calculadas</a:t>
            </a:r>
            <a:endParaRPr lang="en-US" sz="1300" dirty="0"/>
          </a:p>
        </p:txBody>
      </p:sp>
      <p:sp>
        <p:nvSpPr>
          <p:cNvPr id="31" name="seta-3"/>
          <p:cNvSpPr/>
          <p:nvPr/>
        </p:nvSpPr>
        <p:spPr>
          <a:xfrm>
            <a:off x="9400032" y="3337560"/>
            <a:ext cx="137160" cy="274320"/>
          </a:xfrm>
          <a:prstGeom prst="rtTriangle">
            <a:avLst/>
          </a:prstGeom>
          <a:solidFill>
            <a:schemeClr val="accent1"/>
          </a:solidFill>
          <a:ln/>
        </p:spPr>
      </p:sp>
      <p:sp>
        <p:nvSpPr>
          <p:cNvPr id="32" name="etapa-4"/>
          <p:cNvSpPr/>
          <p:nvPr/>
        </p:nvSpPr>
        <p:spPr>
          <a:xfrm>
            <a:off x="9582912" y="1965960"/>
            <a:ext cx="2029968" cy="3063240"/>
          </a:xfrm>
          <a:prstGeom prst="roundRect">
            <a:avLst>
              <a:gd name="adj" fmla="val 45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3" name="num-etapa-4"/>
          <p:cNvSpPr txBox="1"/>
          <p:nvPr/>
        </p:nvSpPr>
        <p:spPr>
          <a:xfrm>
            <a:off x="9811512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elo-LuWallet"/>
          <p:cNvSpPr/>
          <p:nvPr/>
        </p:nvSpPr>
        <p:spPr>
          <a:xfrm>
            <a:off x="10209276" y="2560320"/>
            <a:ext cx="77724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pic>
        <p:nvPicPr>
          <p:cNvPr id="35" name="icone-LuWall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269" y="2731313"/>
            <a:ext cx="435254" cy="435254"/>
          </a:xfrm>
          <a:prstGeom prst="rect">
            <a:avLst/>
          </a:prstGeom>
        </p:spPr>
      </p:pic>
      <p:sp>
        <p:nvSpPr>
          <p:cNvPr id="36" name="nome-etapa-4"/>
          <p:cNvSpPr txBox="1"/>
          <p:nvPr/>
        </p:nvSpPr>
        <p:spPr>
          <a:xfrm>
            <a:off x="9720072" y="352044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900" dirty="0"/>
          </a:p>
        </p:txBody>
      </p:sp>
      <p:sp>
        <p:nvSpPr>
          <p:cNvPr id="37" name="texto-etapa-4"/>
          <p:cNvSpPr txBox="1"/>
          <p:nvPr/>
        </p:nvSpPr>
        <p:spPr>
          <a:xfrm>
            <a:off x="9765792" y="3977640"/>
            <a:ext cx="1664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reais × valor da hora, com status pendente ou pago</a:t>
            </a:r>
            <a:endParaRPr lang="en-US" sz="1300" dirty="0"/>
          </a:p>
        </p:txBody>
      </p:sp>
      <p:sp>
        <p:nvSpPr>
          <p:cNvPr id="38" name="perfis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9" name="texto-perfis"/>
          <p:cNvSpPr txBox="1"/>
          <p:nvPr/>
        </p:nvSpPr>
        <p:spPr>
          <a:xfrm>
            <a:off x="86868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perfis, cada um vê só o necessário: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(tudo)  ·  Gestor (operação, sem excluir)  ·  Técnico (só o próprio trabalho)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às ODS da ONU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Edital, seção 1: o projeto precisa estar alinhado a pelo menos uma ODS (1, 5, 8, 10 ou 17)</a:t>
            </a:r>
            <a:endParaRPr lang="en-US" sz="1600" dirty="0"/>
          </a:p>
        </p:txBody>
      </p:sp>
      <p:sp>
        <p:nvSpPr>
          <p:cNvPr id="4" name="ods-8"/>
          <p:cNvSpPr/>
          <p:nvPr/>
        </p:nvSpPr>
        <p:spPr>
          <a:xfrm>
            <a:off x="548640" y="1783080"/>
            <a:ext cx="5440680" cy="3794760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5" name="ods-num-fundo-8"/>
          <p:cNvSpPr/>
          <p:nvPr/>
        </p:nvSpPr>
        <p:spPr>
          <a:xfrm>
            <a:off x="868680" y="2103120"/>
            <a:ext cx="1234440" cy="1234440"/>
          </a:xfrm>
          <a:prstGeom prst="roundRect">
            <a:avLst>
              <a:gd name="adj" fmla="val 11111"/>
            </a:avLst>
          </a:prstGeom>
          <a:solidFill>
            <a:srgbClr val="1FA88A"/>
          </a:solidFill>
          <a:ln/>
        </p:spPr>
      </p:sp>
      <p:sp>
        <p:nvSpPr>
          <p:cNvPr id="6" name="ods-num-8"/>
          <p:cNvSpPr txBox="1"/>
          <p:nvPr/>
        </p:nvSpPr>
        <p:spPr>
          <a:xfrm>
            <a:off x="868680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400" dirty="0"/>
          </a:p>
        </p:txBody>
      </p:sp>
      <p:sp>
        <p:nvSpPr>
          <p:cNvPr id="7" name="ods-tipo-8"/>
          <p:cNvSpPr txBox="1"/>
          <p:nvPr/>
        </p:nvSpPr>
        <p:spPr>
          <a:xfrm>
            <a:off x="233172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200" dirty="0"/>
          </a:p>
        </p:txBody>
      </p:sp>
      <p:sp>
        <p:nvSpPr>
          <p:cNvPr id="8" name="ods-nome-8"/>
          <p:cNvSpPr txBox="1"/>
          <p:nvPr/>
        </p:nvSpPr>
        <p:spPr>
          <a:xfrm>
            <a:off x="2331720" y="24688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8 · Trabalho Decente e Crescimento Econômico</a:t>
            </a:r>
            <a:endParaRPr lang="en-US" sz="1900" dirty="0"/>
          </a:p>
        </p:txBody>
      </p:sp>
      <p:sp>
        <p:nvSpPr>
          <p:cNvPr id="9" name="ods-itens-8"/>
          <p:cNvSpPr txBox="1"/>
          <p:nvPr/>
        </p:nvSpPr>
        <p:spPr>
          <a:xfrm>
            <a:off x="914400" y="361188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 a jornada: entrada e saída registradas com GPS ou QR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calculado pelas horas reais, com status pendente ou pago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profissional confere os próprios ganhos no celular</a:t>
            </a:r>
            <a:endParaRPr lang="en-US" sz="1500" dirty="0"/>
          </a:p>
        </p:txBody>
      </p:sp>
      <p:sp>
        <p:nvSpPr>
          <p:cNvPr id="10" name="ods-10"/>
          <p:cNvSpPr/>
          <p:nvPr/>
        </p:nvSpPr>
        <p:spPr>
          <a:xfrm>
            <a:off x="6172200" y="1783080"/>
            <a:ext cx="5440680" cy="3794760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1" name="ods-num-fundo-10"/>
          <p:cNvSpPr/>
          <p:nvPr/>
        </p:nvSpPr>
        <p:spPr>
          <a:xfrm>
            <a:off x="6492240" y="2103120"/>
            <a:ext cx="1234440" cy="1234440"/>
          </a:xfrm>
          <a:prstGeom prst="roundRect">
            <a:avLst>
              <a:gd name="adj" fmla="val 11111"/>
            </a:avLst>
          </a:prstGeom>
          <a:solidFill>
            <a:srgbClr val="4B7FA8"/>
          </a:solidFill>
          <a:ln/>
        </p:spPr>
      </p:sp>
      <p:sp>
        <p:nvSpPr>
          <p:cNvPr id="12" name="ods-num-10"/>
          <p:cNvSpPr txBox="1"/>
          <p:nvPr/>
        </p:nvSpPr>
        <p:spPr>
          <a:xfrm>
            <a:off x="6492240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400" dirty="0"/>
          </a:p>
        </p:txBody>
      </p:sp>
      <p:sp>
        <p:nvSpPr>
          <p:cNvPr id="13" name="ods-tipo-10"/>
          <p:cNvSpPr txBox="1"/>
          <p:nvPr/>
        </p:nvSpPr>
        <p:spPr>
          <a:xfrm>
            <a:off x="79552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</a:t>
            </a:r>
            <a:endParaRPr lang="en-US" sz="1200" dirty="0"/>
          </a:p>
        </p:txBody>
      </p:sp>
      <p:sp>
        <p:nvSpPr>
          <p:cNvPr id="14" name="ods-nome-10"/>
          <p:cNvSpPr txBox="1"/>
          <p:nvPr/>
        </p:nvSpPr>
        <p:spPr>
          <a:xfrm>
            <a:off x="7955280" y="24688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10 · Redução das Desigualdades</a:t>
            </a:r>
            <a:endParaRPr lang="en-US" sz="1900" dirty="0"/>
          </a:p>
        </p:txBody>
      </p:sp>
      <p:sp>
        <p:nvSpPr>
          <p:cNvPr id="15" name="ods-itens-10"/>
          <p:cNvSpPr txBox="1"/>
          <p:nvPr/>
        </p:nvSpPr>
        <p:spPr>
          <a:xfrm>
            <a:off x="6537960" y="361188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para uma categoria em grande parte informal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previsível e comprovável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iguais para todos, registradas no sistema</a:t>
            </a:r>
            <a:endParaRPr lang="en-US" sz="1500" dirty="0"/>
          </a:p>
        </p:txBody>
      </p:sp>
      <p:sp>
        <p:nvSpPr>
          <p:cNvPr id="16" name="nota-restricoes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autorizado pelos gestores do curso: o foco é a gestão do trabalho (escala, jornada e pagamento), e não diagnóstico ou tratamento. Pacientes: só maiores de 18 anos.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e impacto esperado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Edital, seção 5: quem é beneficiado e o que muda com a ferramenta</a:t>
            </a:r>
            <a:endParaRPr lang="en-US" sz="1600" dirty="0"/>
          </a:p>
        </p:txBody>
      </p:sp>
      <p:sp>
        <p:nvSpPr>
          <p:cNvPr id="4" name="rotulo-publico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</a:t>
            </a:r>
            <a:endParaRPr lang="en-US" sz="1300" dirty="0"/>
          </a:p>
        </p:txBody>
      </p:sp>
      <p:sp>
        <p:nvSpPr>
          <p:cNvPr id="5" name="publico-0"/>
          <p:cNvSpPr/>
          <p:nvPr/>
        </p:nvSpPr>
        <p:spPr>
          <a:xfrm>
            <a:off x="548640" y="2194560"/>
            <a:ext cx="512064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6" name="selo-LuUser"/>
          <p:cNvSpPr/>
          <p:nvPr/>
        </p:nvSpPr>
        <p:spPr>
          <a:xfrm>
            <a:off x="777240" y="2450592"/>
            <a:ext cx="585216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</p:sp>
      <p:pic>
        <p:nvPicPr>
          <p:cNvPr id="7" name="icone-Lu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88" y="2579340"/>
            <a:ext cx="327721" cy="327721"/>
          </a:xfrm>
          <a:prstGeom prst="rect">
            <a:avLst/>
          </a:prstGeom>
        </p:spPr>
      </p:pic>
      <p:sp>
        <p:nvSpPr>
          <p:cNvPr id="8" name="publico-nome-0"/>
          <p:cNvSpPr txBox="1"/>
          <p:nvPr/>
        </p:nvSpPr>
        <p:spPr>
          <a:xfrm>
            <a:off x="1600200" y="2359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e cuidadores</a:t>
            </a:r>
            <a:endParaRPr lang="en-US" sz="1700" dirty="0"/>
          </a:p>
        </p:txBody>
      </p:sp>
      <p:sp>
        <p:nvSpPr>
          <p:cNvPr id="9" name="publico-texto-0"/>
          <p:cNvSpPr txBox="1"/>
          <p:nvPr/>
        </p:nvSpPr>
        <p:spPr>
          <a:xfrm>
            <a:off x="1600200" y="27066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adultos que trabalham por plantão na casa dos pacientes</a:t>
            </a:r>
            <a:endParaRPr lang="en-US" sz="1300" dirty="0"/>
          </a:p>
        </p:txBody>
      </p:sp>
      <p:sp>
        <p:nvSpPr>
          <p:cNvPr id="10" name="publico-1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1" name="selo-LuBuilding2"/>
          <p:cNvSpPr/>
          <p:nvPr/>
        </p:nvSpPr>
        <p:spPr>
          <a:xfrm>
            <a:off x="777240" y="3730752"/>
            <a:ext cx="585216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</p:sp>
      <p:pic>
        <p:nvPicPr>
          <p:cNvPr id="12" name="icone-LuBuilding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88" y="3859500"/>
            <a:ext cx="327721" cy="327721"/>
          </a:xfrm>
          <a:prstGeom prst="rect">
            <a:avLst/>
          </a:prstGeom>
        </p:spPr>
      </p:pic>
      <p:sp>
        <p:nvSpPr>
          <p:cNvPr id="13" name="publico-nome-1"/>
          <p:cNvSpPr txBox="1"/>
          <p:nvPr/>
        </p:nvSpPr>
        <p:spPr>
          <a:xfrm>
            <a:off x="1600200" y="3639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e agências</a:t>
            </a:r>
            <a:endParaRPr lang="en-US" sz="1700" dirty="0"/>
          </a:p>
        </p:txBody>
      </p:sp>
      <p:sp>
        <p:nvSpPr>
          <p:cNvPr id="14" name="publico-texto-1"/>
          <p:cNvSpPr txBox="1"/>
          <p:nvPr/>
        </p:nvSpPr>
        <p:spPr>
          <a:xfrm>
            <a:off x="1600200" y="39867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empresas de cuidado domiciliar que organizam a equipe</a:t>
            </a:r>
            <a:endParaRPr lang="en-US" sz="1300" dirty="0"/>
          </a:p>
        </p:txBody>
      </p:sp>
      <p:sp>
        <p:nvSpPr>
          <p:cNvPr id="15" name="publico-2"/>
          <p:cNvSpPr/>
          <p:nvPr/>
        </p:nvSpPr>
        <p:spPr>
          <a:xfrm>
            <a:off x="548640" y="4754880"/>
            <a:ext cx="512064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6" name="selo-LuUsers"/>
          <p:cNvSpPr/>
          <p:nvPr/>
        </p:nvSpPr>
        <p:spPr>
          <a:xfrm>
            <a:off x="777240" y="5010912"/>
            <a:ext cx="585216" cy="585216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</p:sp>
      <p:pic>
        <p:nvPicPr>
          <p:cNvPr id="17" name="icone-LuUs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88" y="5139660"/>
            <a:ext cx="327721" cy="327721"/>
          </a:xfrm>
          <a:prstGeom prst="rect">
            <a:avLst/>
          </a:prstGeom>
        </p:spPr>
      </p:pic>
      <p:sp>
        <p:nvSpPr>
          <p:cNvPr id="18" name="publico-nome-2"/>
          <p:cNvSpPr txBox="1"/>
          <p:nvPr/>
        </p:nvSpPr>
        <p:spPr>
          <a:xfrm>
            <a:off x="1600200" y="4919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(indiretamente)</a:t>
            </a:r>
            <a:endParaRPr lang="en-US" sz="1700" dirty="0"/>
          </a:p>
        </p:txBody>
      </p:sp>
      <p:sp>
        <p:nvSpPr>
          <p:cNvPr id="19" name="publico-texto-2"/>
          <p:cNvSpPr txBox="1"/>
          <p:nvPr/>
        </p:nvSpPr>
        <p:spPr>
          <a:xfrm>
            <a:off x="1600200" y="52669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Ganham um histórico de atendimento claro e padronizado</a:t>
            </a:r>
            <a:endParaRPr lang="en-US" sz="1300" dirty="0"/>
          </a:p>
        </p:txBody>
      </p:sp>
      <p:sp>
        <p:nvSpPr>
          <p:cNvPr id="20" name="rotulo-impacto"/>
          <p:cNvSpPr txBox="1"/>
          <p:nvPr/>
        </p:nvSpPr>
        <p:spPr>
          <a:xfrm>
            <a:off x="62179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1300" dirty="0"/>
          </a:p>
        </p:txBody>
      </p:sp>
      <p:sp>
        <p:nvSpPr>
          <p:cNvPr id="21" name="fundo-impacto"/>
          <p:cNvSpPr/>
          <p:nvPr/>
        </p:nvSpPr>
        <p:spPr>
          <a:xfrm>
            <a:off x="6217920" y="219456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1C2E3E"/>
          </a:solidFill>
          <a:ln/>
        </p:spPr>
      </p:sp>
      <p:sp>
        <p:nvSpPr>
          <p:cNvPr id="22" name="selo-LuShieldCheck"/>
          <p:cNvSpPr/>
          <p:nvPr/>
        </p:nvSpPr>
        <p:spPr>
          <a:xfrm>
            <a:off x="6492240" y="2468880"/>
            <a:ext cx="530352" cy="530352"/>
          </a:xfrm>
          <a:prstGeom prst="roundRect">
            <a:avLst>
              <a:gd name="adj" fmla="val 20690"/>
            </a:avLst>
          </a:prstGeom>
          <a:solidFill>
            <a:schemeClr val="accent1"/>
          </a:solidFill>
          <a:ln/>
        </p:spPr>
      </p:sp>
      <p:pic>
        <p:nvPicPr>
          <p:cNvPr id="23" name="icone-LuShield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917" y="2585557"/>
            <a:ext cx="296997" cy="296997"/>
          </a:xfrm>
          <a:prstGeom prst="rect">
            <a:avLst/>
          </a:prstGeom>
        </p:spPr>
      </p:pic>
      <p:sp>
        <p:nvSpPr>
          <p:cNvPr id="24" name="impacto-0"/>
          <p:cNvSpPr txBox="1"/>
          <p:nvPr/>
        </p:nvSpPr>
        <p:spPr>
          <a:xfrm>
            <a:off x="7223760" y="246888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ponto em papel e das discussões sobre horário</a:t>
            </a:r>
            <a:endParaRPr lang="en-US" sz="1600" dirty="0"/>
          </a:p>
        </p:txBody>
      </p:sp>
      <p:sp>
        <p:nvSpPr>
          <p:cNvPr id="25" name="selo-LuWallet"/>
          <p:cNvSpPr/>
          <p:nvPr/>
        </p:nvSpPr>
        <p:spPr>
          <a:xfrm>
            <a:off x="6492240" y="3291840"/>
            <a:ext cx="530352" cy="530352"/>
          </a:xfrm>
          <a:prstGeom prst="roundRect">
            <a:avLst>
              <a:gd name="adj" fmla="val 20690"/>
            </a:avLst>
          </a:prstGeom>
          <a:solidFill>
            <a:schemeClr val="accent1"/>
          </a:solidFill>
          <a:ln/>
        </p:spPr>
      </p:sp>
      <p:pic>
        <p:nvPicPr>
          <p:cNvPr id="26" name="icone-LuWall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917" y="3408517"/>
            <a:ext cx="296997" cy="296997"/>
          </a:xfrm>
          <a:prstGeom prst="rect">
            <a:avLst/>
          </a:prstGeom>
        </p:spPr>
      </p:pic>
      <p:sp>
        <p:nvSpPr>
          <p:cNvPr id="27" name="impacto-1"/>
          <p:cNvSpPr txBox="1"/>
          <p:nvPr/>
        </p:nvSpPr>
        <p:spPr>
          <a:xfrm>
            <a:off x="7223760" y="329184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justo, que o profissional confere no celular</a:t>
            </a:r>
            <a:endParaRPr lang="en-US" sz="1600" dirty="0"/>
          </a:p>
        </p:txBody>
      </p:sp>
      <p:sp>
        <p:nvSpPr>
          <p:cNvPr id="28" name="selo-LuFileCheck"/>
          <p:cNvSpPr/>
          <p:nvPr/>
        </p:nvSpPr>
        <p:spPr>
          <a:xfrm>
            <a:off x="6492240" y="4114800"/>
            <a:ext cx="530352" cy="530352"/>
          </a:xfrm>
          <a:prstGeom prst="roundRect">
            <a:avLst>
              <a:gd name="adj" fmla="val 20690"/>
            </a:avLst>
          </a:prstGeom>
          <a:solidFill>
            <a:schemeClr val="accent1"/>
          </a:solidFill>
          <a:ln/>
        </p:spPr>
      </p:sp>
      <p:pic>
        <p:nvPicPr>
          <p:cNvPr id="29" name="icone-LuFile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917" y="4231477"/>
            <a:ext cx="296997" cy="296997"/>
          </a:xfrm>
          <a:prstGeom prst="rect">
            <a:avLst/>
          </a:prstGeom>
        </p:spPr>
      </p:pic>
      <p:sp>
        <p:nvSpPr>
          <p:cNvPr id="30" name="impacto-2"/>
          <p:cNvSpPr txBox="1"/>
          <p:nvPr/>
        </p:nvSpPr>
        <p:spPr>
          <a:xfrm>
            <a:off x="7223760" y="411480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atendimento padronizado e rastreável</a:t>
            </a:r>
            <a:endParaRPr lang="en-US" sz="1600" dirty="0"/>
          </a:p>
        </p:txBody>
      </p:sp>
      <p:sp>
        <p:nvSpPr>
          <p:cNvPr id="31" name="selo-LuTrendingUp"/>
          <p:cNvSpPr/>
          <p:nvPr/>
        </p:nvSpPr>
        <p:spPr>
          <a:xfrm>
            <a:off x="6492240" y="4937760"/>
            <a:ext cx="530352" cy="530352"/>
          </a:xfrm>
          <a:prstGeom prst="roundRect">
            <a:avLst>
              <a:gd name="adj" fmla="val 20690"/>
            </a:avLst>
          </a:prstGeom>
          <a:solidFill>
            <a:schemeClr val="accent1"/>
          </a:solidFill>
          <a:ln/>
        </p:spPr>
      </p:sp>
      <p:pic>
        <p:nvPicPr>
          <p:cNvPr id="32" name="icone-LuTrendingUp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8917" y="5054437"/>
            <a:ext cx="296997" cy="296997"/>
          </a:xfrm>
          <a:prstGeom prst="rect">
            <a:avLst/>
          </a:prstGeom>
        </p:spPr>
      </p:pic>
      <p:sp>
        <p:nvSpPr>
          <p:cNvPr id="33" name="impacto-3"/>
          <p:cNvSpPr txBox="1"/>
          <p:nvPr/>
        </p:nvSpPr>
        <p:spPr>
          <a:xfrm>
            <a:off x="7223760" y="493776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profissionalização para um setor informal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como gestão (CRUD e financeiro), depois o dia de trabalho de uma técnica</a:t>
            </a:r>
            <a:endParaRPr lang="en-US" sz="1800" dirty="0"/>
          </a:p>
        </p:txBody>
      </p:sp>
      <p:sp>
        <p:nvSpPr>
          <p:cNvPr id="4" name="fundo-logins"/>
          <p:cNvSpPr/>
          <p:nvPr/>
        </p:nvSpPr>
        <p:spPr>
          <a:xfrm>
            <a:off x="8412480" y="1371600"/>
            <a:ext cx="3017520" cy="3566160"/>
          </a:xfrm>
          <a:prstGeom prst="roundRect">
            <a:avLst>
              <a:gd name="adj" fmla="val 4545"/>
            </a:avLst>
          </a:prstGeom>
          <a:solidFill>
            <a:srgbClr val="2D4A63"/>
          </a:solidFill>
          <a:ln/>
        </p:spPr>
      </p:sp>
      <p:sp>
        <p:nvSpPr>
          <p:cNvPr id="5" name="logins"/>
          <p:cNvSpPr txBox="1"/>
          <p:nvPr/>
        </p:nvSpPr>
        <p:spPr>
          <a:xfrm>
            <a:off x="8686800" y="16459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E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acompanhar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homecare-flow.vercel.app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de todos: 123456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admin@homecareflow.com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carlos@homecareflow.com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juliana@homecareflow.com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da gestão: a operação em uma tela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como admin: indicadores, gráfico, agenda do dia, alertas e auditoria</a:t>
            </a:r>
            <a:endParaRPr lang="en-US" sz="1600" dirty="0"/>
          </a:p>
        </p:txBody>
      </p:sp>
      <p:pic>
        <p:nvPicPr>
          <p:cNvPr id="4" name="print-painel" descr="C:\Users\ClaudeirZ2\AppData\Local\Temp\claude\C--Users-ClaudeirZ2-PycharmProjects-Curso-Recode-homecare-flow\925409f3-b663-466e-aa0b-b8662a4dc5e0\scratchpad\slides\img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178040" cy="45262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C2E3E">
                <a:alpha val="18000"/>
              </a:srgbClr>
            </a:outerShdw>
          </a:effectLst>
        </p:spPr>
      </p:pic>
      <p:sp>
        <p:nvSpPr>
          <p:cNvPr id="5" name="selo-LuLayoutDashboard"/>
          <p:cNvSpPr/>
          <p:nvPr/>
        </p:nvSpPr>
        <p:spPr>
          <a:xfrm>
            <a:off x="8092440" y="1737360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pic>
        <p:nvPicPr>
          <p:cNvPr id="6" name="icone-LuLayoutDashboar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141" y="1858061"/>
            <a:ext cx="307238" cy="307238"/>
          </a:xfrm>
          <a:prstGeom prst="rect">
            <a:avLst/>
          </a:prstGeom>
        </p:spPr>
      </p:pic>
      <p:sp>
        <p:nvSpPr>
          <p:cNvPr id="7" name="ponto-titulo-0"/>
          <p:cNvSpPr txBox="1"/>
          <p:nvPr/>
        </p:nvSpPr>
        <p:spPr>
          <a:xfrm>
            <a:off x="8778240" y="1719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do dia</a:t>
            </a:r>
            <a:endParaRPr lang="en-US" sz="1600" dirty="0"/>
          </a:p>
        </p:txBody>
      </p:sp>
      <p:sp>
        <p:nvSpPr>
          <p:cNvPr id="8" name="ponto-texto-0"/>
          <p:cNvSpPr txBox="1"/>
          <p:nvPr/>
        </p:nvSpPr>
        <p:spPr>
          <a:xfrm>
            <a:off x="8778240" y="206654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Pacientes, cuidadores, escalas de hoje e plantões em andamento</a:t>
            </a:r>
            <a:endParaRPr lang="en-US" sz="1300" dirty="0"/>
          </a:p>
        </p:txBody>
      </p:sp>
      <p:sp>
        <p:nvSpPr>
          <p:cNvPr id="9" name="selo-LuTrendingUp"/>
          <p:cNvSpPr/>
          <p:nvPr/>
        </p:nvSpPr>
        <p:spPr>
          <a:xfrm>
            <a:off x="8092440" y="2852928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pic>
        <p:nvPicPr>
          <p:cNvPr id="10" name="icone-LuTrendingU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141" y="2973629"/>
            <a:ext cx="307238" cy="307238"/>
          </a:xfrm>
          <a:prstGeom prst="rect">
            <a:avLst/>
          </a:prstGeom>
        </p:spPr>
      </p:pic>
      <p:sp>
        <p:nvSpPr>
          <p:cNvPr id="11" name="ponto-titulo-1"/>
          <p:cNvSpPr txBox="1"/>
          <p:nvPr/>
        </p:nvSpPr>
        <p:spPr>
          <a:xfrm>
            <a:off x="8778240" y="2834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atividade</a:t>
            </a:r>
            <a:endParaRPr lang="en-US" sz="1600" dirty="0"/>
          </a:p>
        </p:txBody>
      </p:sp>
      <p:sp>
        <p:nvSpPr>
          <p:cNvPr id="12" name="ponto-texto-1"/>
          <p:cNvSpPr txBox="1"/>
          <p:nvPr/>
        </p:nvSpPr>
        <p:spPr>
          <a:xfrm>
            <a:off x="8778240" y="318211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previstas × plantões realizados</a:t>
            </a:r>
            <a:endParaRPr lang="en-US" sz="1300" dirty="0"/>
          </a:p>
        </p:txBody>
      </p:sp>
      <p:sp>
        <p:nvSpPr>
          <p:cNvPr id="13" name="selo-LuBell"/>
          <p:cNvSpPr/>
          <p:nvPr/>
        </p:nvSpPr>
        <p:spPr>
          <a:xfrm>
            <a:off x="8092440" y="3968496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pic>
        <p:nvPicPr>
          <p:cNvPr id="14" name="icone-LuBel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141" y="4089197"/>
            <a:ext cx="307238" cy="307238"/>
          </a:xfrm>
          <a:prstGeom prst="rect">
            <a:avLst/>
          </a:prstGeom>
        </p:spPr>
      </p:pic>
      <p:sp>
        <p:nvSpPr>
          <p:cNvPr id="15" name="ponto-titulo-2"/>
          <p:cNvSpPr txBox="1"/>
          <p:nvPr/>
        </p:nvSpPr>
        <p:spPr>
          <a:xfrm>
            <a:off x="8778240" y="3950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600" dirty="0"/>
          </a:p>
        </p:txBody>
      </p:sp>
      <p:sp>
        <p:nvSpPr>
          <p:cNvPr id="16" name="ponto-texto-2"/>
          <p:cNvSpPr txBox="1"/>
          <p:nvPr/>
        </p:nvSpPr>
        <p:spPr>
          <a:xfrm>
            <a:off x="8778240" y="4297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sozinho: check-in a 2,4 km da casa e plantão sem prontuário</a:t>
            </a:r>
            <a:endParaRPr lang="en-US" sz="1300" dirty="0"/>
          </a:p>
        </p:txBody>
      </p:sp>
      <p:sp>
        <p:nvSpPr>
          <p:cNvPr id="17" name="selo-LuHistory"/>
          <p:cNvSpPr/>
          <p:nvPr/>
        </p:nvSpPr>
        <p:spPr>
          <a:xfrm>
            <a:off x="8092440" y="5084064"/>
            <a:ext cx="54864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pic>
        <p:nvPicPr>
          <p:cNvPr id="18" name="icone-LuHistor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3141" y="5204765"/>
            <a:ext cx="307238" cy="307238"/>
          </a:xfrm>
          <a:prstGeom prst="rect">
            <a:avLst/>
          </a:prstGeom>
        </p:spPr>
      </p:pic>
      <p:sp>
        <p:nvSpPr>
          <p:cNvPr id="19" name="ponto-titulo-3"/>
          <p:cNvSpPr txBox="1"/>
          <p:nvPr/>
        </p:nvSpPr>
        <p:spPr>
          <a:xfrm>
            <a:off x="8778240" y="50657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(LGPD)</a:t>
            </a:r>
            <a:endParaRPr lang="en-US" sz="1600" dirty="0"/>
          </a:p>
        </p:txBody>
      </p:sp>
      <p:sp>
        <p:nvSpPr>
          <p:cNvPr id="20" name="ponto-texto-3"/>
          <p:cNvSpPr txBox="1"/>
          <p:nvPr/>
        </p:nvSpPr>
        <p:spPr>
          <a:xfrm>
            <a:off x="8778240" y="54132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fez o quê e quando (só o admin vê)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completo, 100% pela interface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Edital, seção 4.2: pelo menos 1 CRUD integrado ao front. O projeto tem 3: Escalas, Pacientes e Cuidadores</a:t>
            </a:r>
            <a:endParaRPr lang="en-US" sz="1600" dirty="0"/>
          </a:p>
        </p:txBody>
      </p:sp>
      <p:sp>
        <p:nvSpPr>
          <p:cNvPr id="4" name="crud-0"/>
          <p:cNvSpPr/>
          <p:nvPr/>
        </p:nvSpPr>
        <p:spPr>
          <a:xfrm>
            <a:off x="548640" y="1783080"/>
            <a:ext cx="484632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5" name="selo-LuPlus"/>
          <p:cNvSpPr/>
          <p:nvPr/>
        </p:nvSpPr>
        <p:spPr>
          <a:xfrm>
            <a:off x="749808" y="1947672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6" name="icone-LuPlu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32" y="2072396"/>
            <a:ext cx="317480" cy="317480"/>
          </a:xfrm>
          <a:prstGeom prst="rect">
            <a:avLst/>
          </a:prstGeom>
        </p:spPr>
      </p:pic>
      <p:sp>
        <p:nvSpPr>
          <p:cNvPr id="7" name="crud-op-0"/>
          <p:cNvSpPr txBox="1"/>
          <p:nvPr/>
        </p:nvSpPr>
        <p:spPr>
          <a:xfrm>
            <a:off x="1481328" y="1892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700" dirty="0"/>
          </a:p>
        </p:txBody>
      </p:sp>
      <p:sp>
        <p:nvSpPr>
          <p:cNvPr id="8" name="crud-rota-0"/>
          <p:cNvSpPr txBox="1"/>
          <p:nvPr/>
        </p:nvSpPr>
        <p:spPr>
          <a:xfrm>
            <a:off x="2788920" y="19202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/api/escalas</a:t>
            </a:r>
            <a:endParaRPr lang="en-US" sz="1100" dirty="0"/>
          </a:p>
        </p:txBody>
      </p:sp>
      <p:sp>
        <p:nvSpPr>
          <p:cNvPr id="9" name="crud-tela-0"/>
          <p:cNvSpPr txBox="1"/>
          <p:nvPr/>
        </p:nvSpPr>
        <p:spPr>
          <a:xfrm>
            <a:off x="1481328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"Nova escala" + formulário</a:t>
            </a:r>
            <a:endParaRPr lang="en-US" sz="1300" dirty="0"/>
          </a:p>
        </p:txBody>
      </p:sp>
      <p:sp>
        <p:nvSpPr>
          <p:cNvPr id="10" name="crud-1"/>
          <p:cNvSpPr/>
          <p:nvPr/>
        </p:nvSpPr>
        <p:spPr>
          <a:xfrm>
            <a:off x="548640" y="2807208"/>
            <a:ext cx="484632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1" name="selo-LuList"/>
          <p:cNvSpPr/>
          <p:nvPr/>
        </p:nvSpPr>
        <p:spPr>
          <a:xfrm>
            <a:off x="749808" y="297180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12" name="icone-LuLis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32" y="3096524"/>
            <a:ext cx="317480" cy="317480"/>
          </a:xfrm>
          <a:prstGeom prst="rect">
            <a:avLst/>
          </a:prstGeom>
        </p:spPr>
      </p:pic>
      <p:sp>
        <p:nvSpPr>
          <p:cNvPr id="13" name="crud-op-1"/>
          <p:cNvSpPr txBox="1"/>
          <p:nvPr/>
        </p:nvSpPr>
        <p:spPr>
          <a:xfrm>
            <a:off x="1481328" y="29169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700" dirty="0"/>
          </a:p>
        </p:txBody>
      </p:sp>
      <p:sp>
        <p:nvSpPr>
          <p:cNvPr id="14" name="crud-rota-1"/>
          <p:cNvSpPr txBox="1"/>
          <p:nvPr/>
        </p:nvSpPr>
        <p:spPr>
          <a:xfrm>
            <a:off x="2788920" y="29443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/api/escalas</a:t>
            </a:r>
            <a:endParaRPr lang="en-US" sz="1100" dirty="0"/>
          </a:p>
        </p:txBody>
      </p:sp>
      <p:sp>
        <p:nvSpPr>
          <p:cNvPr id="15" name="crud-tela-1"/>
          <p:cNvSpPr txBox="1"/>
          <p:nvPr/>
        </p:nvSpPr>
        <p:spPr>
          <a:xfrm>
            <a:off x="1481328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filtros por status e data</a:t>
            </a:r>
            <a:endParaRPr lang="en-US" sz="1300" dirty="0"/>
          </a:p>
        </p:txBody>
      </p:sp>
      <p:sp>
        <p:nvSpPr>
          <p:cNvPr id="16" name="crud-2"/>
          <p:cNvSpPr/>
          <p:nvPr/>
        </p:nvSpPr>
        <p:spPr>
          <a:xfrm>
            <a:off x="548640" y="3831336"/>
            <a:ext cx="484632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7" name="selo-LuPencil"/>
          <p:cNvSpPr/>
          <p:nvPr/>
        </p:nvSpPr>
        <p:spPr>
          <a:xfrm>
            <a:off x="749808" y="3995928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18" name="icone-LuPenci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32" y="4120652"/>
            <a:ext cx="317480" cy="317480"/>
          </a:xfrm>
          <a:prstGeom prst="rect">
            <a:avLst/>
          </a:prstGeom>
        </p:spPr>
      </p:pic>
      <p:sp>
        <p:nvSpPr>
          <p:cNvPr id="19" name="crud-op-2"/>
          <p:cNvSpPr txBox="1"/>
          <p:nvPr/>
        </p:nvSpPr>
        <p:spPr>
          <a:xfrm>
            <a:off x="1481328" y="39410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700" dirty="0"/>
          </a:p>
        </p:txBody>
      </p:sp>
      <p:sp>
        <p:nvSpPr>
          <p:cNvPr id="20" name="crud-rota-2"/>
          <p:cNvSpPr txBox="1"/>
          <p:nvPr/>
        </p:nvSpPr>
        <p:spPr>
          <a:xfrm>
            <a:off x="2788920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/api/escalas/:id</a:t>
            </a:r>
            <a:endParaRPr lang="en-US" sz="1100" dirty="0"/>
          </a:p>
        </p:txBody>
      </p:sp>
      <p:sp>
        <p:nvSpPr>
          <p:cNvPr id="21" name="crud-tela-2"/>
          <p:cNvSpPr txBox="1"/>
          <p:nvPr/>
        </p:nvSpPr>
        <p:spPr>
          <a:xfrm>
            <a:off x="1481328" y="4288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de lápis + formulário preenchido</a:t>
            </a:r>
            <a:endParaRPr lang="en-US" sz="1300" dirty="0"/>
          </a:p>
        </p:txBody>
      </p:sp>
      <p:sp>
        <p:nvSpPr>
          <p:cNvPr id="22" name="crud-3"/>
          <p:cNvSpPr/>
          <p:nvPr/>
        </p:nvSpPr>
        <p:spPr>
          <a:xfrm>
            <a:off x="548640" y="4855464"/>
            <a:ext cx="484632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3" name="selo-LuTrash2"/>
          <p:cNvSpPr/>
          <p:nvPr/>
        </p:nvSpPr>
        <p:spPr>
          <a:xfrm>
            <a:off x="749808" y="5020056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24" name="icone-LuTrash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32" y="5144780"/>
            <a:ext cx="317480" cy="317480"/>
          </a:xfrm>
          <a:prstGeom prst="rect">
            <a:avLst/>
          </a:prstGeom>
        </p:spPr>
      </p:pic>
      <p:sp>
        <p:nvSpPr>
          <p:cNvPr id="25" name="crud-op-3"/>
          <p:cNvSpPr txBox="1"/>
          <p:nvPr/>
        </p:nvSpPr>
        <p:spPr>
          <a:xfrm>
            <a:off x="1481328" y="4965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700" dirty="0"/>
          </a:p>
        </p:txBody>
      </p:sp>
      <p:sp>
        <p:nvSpPr>
          <p:cNvPr id="26" name="crud-rota-3"/>
          <p:cNvSpPr txBox="1"/>
          <p:nvPr/>
        </p:nvSpPr>
        <p:spPr>
          <a:xfrm>
            <a:off x="2788920" y="49926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/api/escalas/:id</a:t>
            </a:r>
            <a:endParaRPr lang="en-US" sz="1100" dirty="0"/>
          </a:p>
        </p:txBody>
      </p:sp>
      <p:sp>
        <p:nvSpPr>
          <p:cNvPr id="27" name="crud-tela-3"/>
          <p:cNvSpPr txBox="1"/>
          <p:nvPr/>
        </p:nvSpPr>
        <p:spPr>
          <a:xfrm>
            <a:off x="1481328" y="53126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Lixeira + modal de confirmação</a:t>
            </a:r>
            <a:endParaRPr lang="en-US" sz="1300" dirty="0"/>
          </a:p>
        </p:txBody>
      </p:sp>
      <p:pic>
        <p:nvPicPr>
          <p:cNvPr id="28" name="print-escalas" descr="C:\Users\ClaudeirZ2\AppData\Local\Temp\claude\C--Users-ClaudeirZ2-PycharmProjects-Curso-Recode-homecare-flow\925409f3-b663-466e-aa0b-b8662a4dc5e0\scratchpad\slides\img\escala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783080"/>
            <a:ext cx="5852160" cy="279806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C2E3E">
                <a:alpha val="18000"/>
              </a:srgbClr>
            </a:outerShdw>
          </a:effectLst>
        </p:spPr>
      </p:pic>
      <p:sp>
        <p:nvSpPr>
          <p:cNvPr id="29" name="regra-conflito"/>
          <p:cNvSpPr/>
          <p:nvPr/>
        </p:nvSpPr>
        <p:spPr>
          <a:xfrm>
            <a:off x="5760720" y="4846320"/>
            <a:ext cx="5852160" cy="1207008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0" name="selo-LuShieldCheck"/>
          <p:cNvSpPr/>
          <p:nvPr/>
        </p:nvSpPr>
        <p:spPr>
          <a:xfrm>
            <a:off x="5989320" y="507492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31" name="icone-LuShield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4044" y="5199644"/>
            <a:ext cx="317480" cy="317480"/>
          </a:xfrm>
          <a:prstGeom prst="rect">
            <a:avLst/>
          </a:prstGeom>
        </p:spPr>
      </p:pic>
      <p:sp>
        <p:nvSpPr>
          <p:cNvPr id="32" name="texto-regra"/>
          <p:cNvSpPr txBox="1"/>
          <p:nvPr/>
        </p:nvSpPr>
        <p:spPr>
          <a:xfrm>
            <a:off x="6766560" y="4846320"/>
            <a:ext cx="4663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na API: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não deixa escalar a mesma pessoa duas vezes no mesmo dia e turno.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que comprova a presença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como técnica: o check-in só é liberado no dia da escala e só pelo próprio profissional</a:t>
            </a:r>
            <a:endParaRPr lang="en-US" sz="1600" dirty="0"/>
          </a:p>
        </p:txBody>
      </p:sp>
      <p:pic>
        <p:nvPicPr>
          <p:cNvPr id="4" name="print-cartao-qr" descr="C:\Users\ClaudeirZ2\AppData\Local\Temp\claude\C--Users-ClaudeirZ2-PycharmProjects-Curso-Recode-homecare-flow\925409f3-b663-466e-aa0b-b8662a4dc5e0\scratchpad\slides\img\cartao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749040" cy="415137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C2E3E">
                <a:alpha val="18000"/>
              </a:srgbClr>
            </a:outerShdw>
          </a:effectLst>
        </p:spPr>
      </p:pic>
      <p:sp>
        <p:nvSpPr>
          <p:cNvPr id="5" name="legenda-qr"/>
          <p:cNvSpPr txBox="1"/>
          <p:nvPr/>
        </p:nvSpPr>
        <p:spPr>
          <a:xfrm>
            <a:off x="548640" y="5943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QR Code impresso e fixado na casa do paciente</a:t>
            </a:r>
            <a:endParaRPr lang="en-US" sz="1100" dirty="0"/>
          </a:p>
        </p:txBody>
      </p:sp>
      <p:sp>
        <p:nvSpPr>
          <p:cNvPr id="6" name="forma-0"/>
          <p:cNvSpPr/>
          <p:nvPr/>
        </p:nvSpPr>
        <p:spPr>
          <a:xfrm>
            <a:off x="4572000" y="1783080"/>
            <a:ext cx="4663440" cy="1207008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7" name="selo-LuQrCode"/>
          <p:cNvSpPr/>
          <p:nvPr/>
        </p:nvSpPr>
        <p:spPr>
          <a:xfrm>
            <a:off x="4800600" y="205740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/>
        </p:spPr>
      </p:sp>
      <p:pic>
        <p:nvPicPr>
          <p:cNvPr id="8" name="icone-LuQrCo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418" y="2198218"/>
            <a:ext cx="358445" cy="358445"/>
          </a:xfrm>
          <a:prstGeom prst="rect">
            <a:avLst/>
          </a:prstGeom>
        </p:spPr>
      </p:pic>
      <p:sp>
        <p:nvSpPr>
          <p:cNvPr id="9" name="forma-titulo-0"/>
          <p:cNvSpPr txBox="1"/>
          <p:nvPr/>
        </p:nvSpPr>
        <p:spPr>
          <a:xfrm>
            <a:off x="5623560" y="1920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da residência</a:t>
            </a:r>
            <a:endParaRPr lang="en-US" sz="1600" dirty="0"/>
          </a:p>
        </p:txBody>
      </p:sp>
      <p:sp>
        <p:nvSpPr>
          <p:cNvPr id="10" name="forma-texto-0"/>
          <p:cNvSpPr txBox="1"/>
          <p:nvPr/>
        </p:nvSpPr>
        <p:spPr>
          <a:xfrm>
            <a:off x="5623560" y="225856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técnico lê o cartão com a câmera do celular. Se o código não for daquela casa, o sistema recusa.</a:t>
            </a:r>
            <a:endParaRPr lang="en-US" sz="1250" dirty="0"/>
          </a:p>
        </p:txBody>
      </p:sp>
      <p:sp>
        <p:nvSpPr>
          <p:cNvPr id="11" name="forma-1"/>
          <p:cNvSpPr/>
          <p:nvPr/>
        </p:nvSpPr>
        <p:spPr>
          <a:xfrm>
            <a:off x="4572000" y="3154680"/>
            <a:ext cx="4663440" cy="1207008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2" name="selo-LuMapPin"/>
          <p:cNvSpPr/>
          <p:nvPr/>
        </p:nvSpPr>
        <p:spPr>
          <a:xfrm>
            <a:off x="4800600" y="342900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/>
        </p:spPr>
      </p:sp>
      <p:pic>
        <p:nvPicPr>
          <p:cNvPr id="13" name="icone-LuMapPi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418" y="3569818"/>
            <a:ext cx="358445" cy="358445"/>
          </a:xfrm>
          <a:prstGeom prst="rect">
            <a:avLst/>
          </a:prstGeom>
        </p:spPr>
      </p:pic>
      <p:sp>
        <p:nvSpPr>
          <p:cNvPr id="14" name="forma-titulo-1"/>
          <p:cNvSpPr txBox="1"/>
          <p:nvPr/>
        </p:nvSpPr>
        <p:spPr>
          <a:xfrm>
            <a:off x="5623560" y="3291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com distância</a:t>
            </a:r>
            <a:endParaRPr lang="en-US" sz="1600" dirty="0"/>
          </a:p>
        </p:txBody>
      </p:sp>
      <p:sp>
        <p:nvSpPr>
          <p:cNvPr id="15" name="forma-texto-1"/>
          <p:cNvSpPr txBox="1"/>
          <p:nvPr/>
        </p:nvSpPr>
        <p:spPr>
          <a:xfrm>
            <a:off x="5623560" y="363016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calcula a distância até a casa (fórmula de Haversine). Acima de 300 m, vira alerta para a gestão.</a:t>
            </a:r>
            <a:endParaRPr lang="en-US" sz="1250" dirty="0"/>
          </a:p>
        </p:txBody>
      </p:sp>
      <p:sp>
        <p:nvSpPr>
          <p:cNvPr id="16" name="forma-2"/>
          <p:cNvSpPr/>
          <p:nvPr/>
        </p:nvSpPr>
        <p:spPr>
          <a:xfrm>
            <a:off x="4572000" y="4526280"/>
            <a:ext cx="4663440" cy="1207008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7" name="selo-LuLock"/>
          <p:cNvSpPr/>
          <p:nvPr/>
        </p:nvSpPr>
        <p:spPr>
          <a:xfrm>
            <a:off x="4800600" y="4800600"/>
            <a:ext cx="64008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/>
        </p:spPr>
      </p:sp>
      <p:pic>
        <p:nvPicPr>
          <p:cNvPr id="18" name="icone-Lu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418" y="4941418"/>
            <a:ext cx="358445" cy="358445"/>
          </a:xfrm>
          <a:prstGeom prst="rect">
            <a:avLst/>
          </a:prstGeom>
        </p:spPr>
      </p:pic>
      <p:sp>
        <p:nvSpPr>
          <p:cNvPr id="19" name="forma-titulo-2"/>
          <p:cNvSpPr txBox="1"/>
          <p:nvPr/>
        </p:nvSpPr>
        <p:spPr>
          <a:xfrm>
            <a:off x="5623560" y="4663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presença</a:t>
            </a:r>
            <a:endParaRPr lang="en-US" sz="1600" dirty="0"/>
          </a:p>
        </p:txBody>
      </p:sp>
      <p:sp>
        <p:nvSpPr>
          <p:cNvPr id="20" name="forma-texto-2"/>
          <p:cNvSpPr txBox="1"/>
          <p:nvPr/>
        </p:nvSpPr>
        <p:spPr>
          <a:xfrm>
            <a:off x="5623560" y="500176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acompanha, mas não faz check-in no lugar de ninguém. A regra está na API.</a:t>
            </a:r>
            <a:endParaRPr lang="en-US" sz="1250" dirty="0"/>
          </a:p>
        </p:txBody>
      </p:sp>
      <p:pic>
        <p:nvPicPr>
          <p:cNvPr id="21" name="print-celular-plantoes" descr="C:\Users\ClaudeirZ2\AppData\Local\Temp\claude\C--Users-ClaudeirZ2-PycharmProjects-Curso-Recode-homecare-flow\925409f3-b663-466e-aa0b-b8662a4dc5e0\scratchpad\slides\img\celular-planto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737360"/>
            <a:ext cx="2057400" cy="421538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C2E3E">
                <a:alpha val="18000"/>
              </a:srgbClr>
            </a:outerShdw>
          </a:effectLst>
        </p:spPr>
      </p:pic>
      <p:sp>
        <p:nvSpPr>
          <p:cNvPr id="22" name="legenda-celular"/>
          <p:cNvSpPr txBox="1"/>
          <p:nvPr/>
        </p:nvSpPr>
        <p:spPr>
          <a:xfrm>
            <a:off x="9555480" y="5943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 (PWA)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Prontuário, check-out e pagamento justo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horas do check-in ao check-out viram o pagamento, sem papel e sem combinado por mensagem</a:t>
            </a:r>
            <a:endParaRPr lang="en-US" sz="1600" dirty="0"/>
          </a:p>
        </p:txBody>
      </p:sp>
      <p:pic>
        <p:nvPicPr>
          <p:cNvPr id="4" name="print-meus-ganhos" descr="C:\Users\ClaudeirZ2\AppData\Local\Temp\claude\C--Users-ClaudeirZ2-PycharmProjects-Curso-Recode-homecare-flow\925409f3-b663-466e-aa0b-b8662a4dc5e0\scratchpad\slides\img\meus-ganh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262432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C2E3E">
                <a:alpha val="18000"/>
              </a:srgbClr>
            </a:outerShdw>
          </a:effectLst>
        </p:spPr>
      </p:pic>
      <p:sp>
        <p:nvSpPr>
          <p:cNvPr id="5" name="legenda-ganhos"/>
          <p:cNvSpPr txBox="1"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"Meus ganhos": a técnica confere quanto tem a receber</a:t>
            </a:r>
            <a:endParaRPr lang="en-US" sz="1200" dirty="0"/>
          </a:p>
        </p:txBody>
      </p:sp>
      <p:pic>
        <p:nvPicPr>
          <p:cNvPr id="6" name="print-financeiro" descr="C:\Users\ClaudeirZ2\AppData\Local\Temp\claude\C--Users-ClaudeirZ2-PycharmProjects-Curso-Recode-homecare-flow\925409f3-b663-466e-aa0b-b8662a4dc5e0\scratchpad\slides\img\financei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440680" cy="303580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C2E3E">
                <a:alpha val="18000"/>
              </a:srgbClr>
            </a:outerShdw>
          </a:effectLst>
        </p:spPr>
      </p:pic>
      <p:sp>
        <p:nvSpPr>
          <p:cNvPr id="7" name="legenda-financeiro"/>
          <p:cNvSpPr txBox="1"/>
          <p:nvPr/>
        </p:nvSpPr>
        <p:spPr>
          <a:xfrm>
            <a:off x="6172200" y="481888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da gestão: fechamento, pago e exportação</a:t>
            </a:r>
            <a:endParaRPr lang="en-US" sz="1200" dirty="0"/>
          </a:p>
        </p:txBody>
      </p:sp>
      <p:sp>
        <p:nvSpPr>
          <p:cNvPr id="8" name="formula"/>
          <p:cNvSpPr/>
          <p:nvPr/>
        </p:nvSpPr>
        <p:spPr>
          <a:xfrm>
            <a:off x="548640" y="50292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C2E3E"/>
          </a:solidFill>
          <a:ln/>
        </p:spPr>
      </p:sp>
      <p:sp>
        <p:nvSpPr>
          <p:cNvPr id="9" name="texto-formula"/>
          <p:cNvSpPr txBox="1"/>
          <p:nvPr/>
        </p:nvSpPr>
        <p:spPr>
          <a:xfrm>
            <a:off x="777240" y="5029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=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trabalhados ÷ 60 × valor da hora</a:t>
            </a:r>
            <a:endParaRPr lang="en-US" sz="1600" dirty="0"/>
          </a:p>
        </p:txBody>
      </p:sp>
      <p:sp>
        <p:nvSpPr>
          <p:cNvPr id="10" name="extras-fin"/>
          <p:cNvSpPr/>
          <p:nvPr/>
        </p:nvSpPr>
        <p:spPr>
          <a:xfrm>
            <a:off x="6172200" y="5257800"/>
            <a:ext cx="54406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1" name="texto-extras-fin"/>
          <p:cNvSpPr txBox="1"/>
          <p:nvPr/>
        </p:nvSpPr>
        <p:spPr>
          <a:xfrm>
            <a:off x="6355080" y="5257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Demonstrativo em PDF · Marcar como pago · Exportar para Excel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obrigatórias e arquitetura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Edital, seção 3: MySQL, Node.js (API RESTful) e ReactJS. Tudo publicado na nuvem</a:t>
            </a:r>
            <a:endParaRPr lang="en-US" sz="1600" dirty="0"/>
          </a:p>
        </p:txBody>
      </p:sp>
      <p:sp>
        <p:nvSpPr>
          <p:cNvPr id="4" name="camada-0"/>
          <p:cNvSpPr/>
          <p:nvPr/>
        </p:nvSpPr>
        <p:spPr>
          <a:xfrm>
            <a:off x="548640" y="1828800"/>
            <a:ext cx="342900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5" name="camada-fundo-0"/>
          <p:cNvSpPr/>
          <p:nvPr/>
        </p:nvSpPr>
        <p:spPr>
          <a:xfrm>
            <a:off x="868680" y="214884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4B7FA8"/>
          </a:solidFill>
          <a:ln/>
        </p:spPr>
      </p:sp>
      <p:pic>
        <p:nvPicPr>
          <p:cNvPr id="6" name="camada-icone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457200" cy="457200"/>
          </a:xfrm>
          <a:prstGeom prst="rect">
            <a:avLst/>
          </a:prstGeom>
        </p:spPr>
      </p:pic>
      <p:sp>
        <p:nvSpPr>
          <p:cNvPr id="7" name="camada-tipo-0"/>
          <p:cNvSpPr txBox="1"/>
          <p:nvPr/>
        </p:nvSpPr>
        <p:spPr>
          <a:xfrm>
            <a:off x="86868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camada-nome-0"/>
          <p:cNvSpPr txBox="1"/>
          <p:nvPr/>
        </p:nvSpPr>
        <p:spPr>
          <a:xfrm>
            <a:off x="868680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</a:t>
            </a:r>
            <a:endParaRPr lang="en-US" sz="2200" dirty="0"/>
          </a:p>
        </p:txBody>
      </p:sp>
      <p:sp>
        <p:nvSpPr>
          <p:cNvPr id="9" name="camada-texto-0"/>
          <p:cNvSpPr txBox="1"/>
          <p:nvPr/>
        </p:nvSpPr>
        <p:spPr>
          <a:xfrm>
            <a:off x="86868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componentizada, PWA para celular</a:t>
            </a:r>
            <a:endParaRPr lang="en-US" sz="1400" dirty="0"/>
          </a:p>
        </p:txBody>
      </p:sp>
      <p:sp>
        <p:nvSpPr>
          <p:cNvPr id="10" name="camada-host-0"/>
          <p:cNvSpPr txBox="1"/>
          <p:nvPr/>
        </p:nvSpPr>
        <p:spPr>
          <a:xfrm>
            <a:off x="86868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Hospedado no Vercel</a:t>
            </a:r>
            <a:endParaRPr lang="en-US" sz="1200" dirty="0"/>
          </a:p>
        </p:txBody>
      </p:sp>
      <p:sp>
        <p:nvSpPr>
          <p:cNvPr id="11" name="seta-camada-0"/>
          <p:cNvSpPr txBox="1"/>
          <p:nvPr/>
        </p:nvSpPr>
        <p:spPr>
          <a:xfrm>
            <a:off x="4005072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camada-1"/>
          <p:cNvSpPr/>
          <p:nvPr/>
        </p:nvSpPr>
        <p:spPr>
          <a:xfrm>
            <a:off x="4389120" y="1828800"/>
            <a:ext cx="342900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3" name="camada-fundo-1"/>
          <p:cNvSpPr/>
          <p:nvPr/>
        </p:nvSpPr>
        <p:spPr>
          <a:xfrm>
            <a:off x="4709160" y="214884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1FA88A"/>
          </a:solidFill>
          <a:ln/>
        </p:spPr>
      </p:sp>
      <p:pic>
        <p:nvPicPr>
          <p:cNvPr id="14" name="camada-icone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31720"/>
            <a:ext cx="457200" cy="457200"/>
          </a:xfrm>
          <a:prstGeom prst="rect">
            <a:avLst/>
          </a:prstGeom>
        </p:spPr>
      </p:pic>
      <p:sp>
        <p:nvSpPr>
          <p:cNvPr id="15" name="camada-tipo-1"/>
          <p:cNvSpPr txBox="1"/>
          <p:nvPr/>
        </p:nvSpPr>
        <p:spPr>
          <a:xfrm>
            <a:off x="470916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camada-nome-1"/>
          <p:cNvSpPr txBox="1"/>
          <p:nvPr/>
        </p:nvSpPr>
        <p:spPr>
          <a:xfrm>
            <a:off x="4709160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2200" dirty="0"/>
          </a:p>
        </p:txBody>
      </p:sp>
      <p:sp>
        <p:nvSpPr>
          <p:cNvPr id="17" name="camada-texto-1"/>
          <p:cNvSpPr txBox="1"/>
          <p:nvPr/>
        </p:nvSpPr>
        <p:spPr>
          <a:xfrm>
            <a:off x="470916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com JWT, validações e regras de negócio</a:t>
            </a:r>
            <a:endParaRPr lang="en-US" sz="1400" dirty="0"/>
          </a:p>
        </p:txBody>
      </p:sp>
      <p:sp>
        <p:nvSpPr>
          <p:cNvPr id="18" name="camada-host-1"/>
          <p:cNvSpPr txBox="1"/>
          <p:nvPr/>
        </p:nvSpPr>
        <p:spPr>
          <a:xfrm>
            <a:off x="470916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Hospedado no Render</a:t>
            </a:r>
            <a:endParaRPr lang="en-US" sz="1200" dirty="0"/>
          </a:p>
        </p:txBody>
      </p:sp>
      <p:sp>
        <p:nvSpPr>
          <p:cNvPr id="19" name="seta-camada-1"/>
          <p:cNvSpPr txBox="1"/>
          <p:nvPr/>
        </p:nvSpPr>
        <p:spPr>
          <a:xfrm>
            <a:off x="7845552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camada-2"/>
          <p:cNvSpPr/>
          <p:nvPr/>
        </p:nvSpPr>
        <p:spPr>
          <a:xfrm>
            <a:off x="8229600" y="1828800"/>
            <a:ext cx="342900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1" name="camada-fundo-2"/>
          <p:cNvSpPr/>
          <p:nvPr/>
        </p:nvSpPr>
        <p:spPr>
          <a:xfrm>
            <a:off x="8549640" y="214884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2D4A63"/>
          </a:solidFill>
          <a:ln/>
        </p:spPr>
      </p:sp>
      <p:pic>
        <p:nvPicPr>
          <p:cNvPr id="22" name="camada-icone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331720"/>
            <a:ext cx="457200" cy="457200"/>
          </a:xfrm>
          <a:prstGeom prst="rect">
            <a:avLst/>
          </a:prstGeom>
        </p:spPr>
      </p:pic>
      <p:sp>
        <p:nvSpPr>
          <p:cNvPr id="23" name="camada-tipo-2"/>
          <p:cNvSpPr txBox="1"/>
          <p:nvPr/>
        </p:nvSpPr>
        <p:spPr>
          <a:xfrm>
            <a:off x="854964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24" name="camada-nome-2"/>
          <p:cNvSpPr txBox="1"/>
          <p:nvPr/>
        </p:nvSpPr>
        <p:spPr>
          <a:xfrm>
            <a:off x="8549640" y="3429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2200" dirty="0"/>
          </a:p>
        </p:txBody>
      </p:sp>
      <p:sp>
        <p:nvSpPr>
          <p:cNvPr id="25" name="camada-texto-2"/>
          <p:cNvSpPr txBox="1"/>
          <p:nvPr/>
        </p:nvSpPr>
        <p:spPr>
          <a:xfrm>
            <a:off x="854964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tabelas relacionadas, transações</a:t>
            </a:r>
            <a:endParaRPr lang="en-US" sz="1400" dirty="0"/>
          </a:p>
        </p:txBody>
      </p:sp>
      <p:sp>
        <p:nvSpPr>
          <p:cNvPr id="26" name="camada-host-2"/>
          <p:cNvSpPr txBox="1"/>
          <p:nvPr/>
        </p:nvSpPr>
        <p:spPr>
          <a:xfrm>
            <a:off x="854964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Hospedado no Aiven</a:t>
            </a:r>
            <a:endParaRPr lang="en-US" sz="1200" dirty="0"/>
          </a:p>
        </p:txBody>
      </p:sp>
      <p:sp>
        <p:nvSpPr>
          <p:cNvPr id="27" name="fluxo-req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8" name="texto-fluxo"/>
          <p:cNvSpPr txBox="1"/>
          <p:nvPr/>
        </p:nvSpPr>
        <p:spPr>
          <a:xfrm>
            <a:off x="82296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ação viaja: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na tela → requisição HTTP com o token JWT → API valida o login, o perfil e os dados → SQL no MySQL → resposta em JSON → tela atualizada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MySQL: 8 tabelas relacionadas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Edital, seção 4.1: tabelas bem definidas e relacionadas ao funcionamento da aplicação</a:t>
            </a:r>
            <a:endParaRPr lang="en-US" sz="1600" dirty="0"/>
          </a:p>
        </p:txBody>
      </p:sp>
      <p:sp>
        <p:nvSpPr>
          <p:cNvPr id="4" name="rel-usuarios-profissionais"/>
          <p:cNvSpPr/>
          <p:nvPr/>
        </p:nvSpPr>
        <p:spPr>
          <a:xfrm>
            <a:off x="2971800" y="2354580"/>
            <a:ext cx="274320" cy="914"/>
          </a:xfrm>
          <a:prstGeom prst="line">
            <a:avLst/>
          </a:prstGeom>
          <a:noFill/>
          <a:ln w="22225">
            <a:solidFill>
              <a:srgbClr val="4B7FA8"/>
            </a:solidFill>
            <a:prstDash val="solid"/>
          </a:ln>
        </p:spPr>
      </p:sp>
      <p:sp>
        <p:nvSpPr>
          <p:cNvPr id="5" name="rot-usuarios-profissionais"/>
          <p:cNvSpPr txBox="1"/>
          <p:nvPr/>
        </p:nvSpPr>
        <p:spPr>
          <a:xfrm>
            <a:off x="2834640" y="20436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100" dirty="0"/>
          </a:p>
        </p:txBody>
      </p:sp>
      <p:sp>
        <p:nvSpPr>
          <p:cNvPr id="6" name="rel-profissionais-escalas"/>
          <p:cNvSpPr/>
          <p:nvPr/>
        </p:nvSpPr>
        <p:spPr>
          <a:xfrm>
            <a:off x="5669280" y="2354580"/>
            <a:ext cx="274320" cy="914"/>
          </a:xfrm>
          <a:prstGeom prst="line">
            <a:avLst/>
          </a:prstGeom>
          <a:noFill/>
          <a:ln w="22225">
            <a:solidFill>
              <a:srgbClr val="4B7FA8"/>
            </a:solidFill>
            <a:prstDash val="solid"/>
          </a:ln>
        </p:spPr>
      </p:sp>
      <p:sp>
        <p:nvSpPr>
          <p:cNvPr id="7" name="rot-profissionais-escalas"/>
          <p:cNvSpPr txBox="1"/>
          <p:nvPr/>
        </p:nvSpPr>
        <p:spPr>
          <a:xfrm>
            <a:off x="5532120" y="20436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  <p:sp>
        <p:nvSpPr>
          <p:cNvPr id="8" name="rel-pacientes-escalas"/>
          <p:cNvSpPr/>
          <p:nvPr/>
        </p:nvSpPr>
        <p:spPr>
          <a:xfrm>
            <a:off x="5943600" y="2354580"/>
            <a:ext cx="5120640" cy="914"/>
          </a:xfrm>
          <a:prstGeom prst="line">
            <a:avLst/>
          </a:prstGeom>
          <a:noFill/>
          <a:ln w="22225">
            <a:solidFill>
              <a:srgbClr val="4B7FA8"/>
            </a:solidFill>
            <a:prstDash val="solid"/>
          </a:ln>
        </p:spPr>
      </p:sp>
      <p:sp>
        <p:nvSpPr>
          <p:cNvPr id="9" name="rot-pacientes-escalas"/>
          <p:cNvSpPr txBox="1"/>
          <p:nvPr/>
        </p:nvSpPr>
        <p:spPr>
          <a:xfrm>
            <a:off x="8229600" y="20436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  <p:sp>
        <p:nvSpPr>
          <p:cNvPr id="10" name="rel-escalas-plantoes"/>
          <p:cNvSpPr/>
          <p:nvPr/>
        </p:nvSpPr>
        <p:spPr>
          <a:xfrm>
            <a:off x="7155180" y="2880360"/>
            <a:ext cx="914" cy="548640"/>
          </a:xfrm>
          <a:prstGeom prst="line">
            <a:avLst/>
          </a:prstGeom>
          <a:noFill/>
          <a:ln w="22225">
            <a:solidFill>
              <a:srgbClr val="4B7FA8"/>
            </a:solidFill>
            <a:prstDash val="solid"/>
          </a:ln>
        </p:spPr>
      </p:sp>
      <p:sp>
        <p:nvSpPr>
          <p:cNvPr id="11" name="rot-escalas-plantoes"/>
          <p:cNvSpPr txBox="1"/>
          <p:nvPr/>
        </p:nvSpPr>
        <p:spPr>
          <a:xfrm>
            <a:off x="7228332" y="3017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100" dirty="0"/>
          </a:p>
        </p:txBody>
      </p:sp>
      <p:sp>
        <p:nvSpPr>
          <p:cNvPr id="12" name="rel-plantoes-prontuarios"/>
          <p:cNvSpPr/>
          <p:nvPr/>
        </p:nvSpPr>
        <p:spPr>
          <a:xfrm>
            <a:off x="8366760" y="3954780"/>
            <a:ext cx="274320" cy="914"/>
          </a:xfrm>
          <a:prstGeom prst="line">
            <a:avLst/>
          </a:prstGeom>
          <a:noFill/>
          <a:ln w="22225">
            <a:solidFill>
              <a:srgbClr val="4B7FA8"/>
            </a:solidFill>
            <a:prstDash val="solid"/>
          </a:ln>
        </p:spPr>
      </p:sp>
      <p:sp>
        <p:nvSpPr>
          <p:cNvPr id="13" name="rot-plantoes-prontuarios"/>
          <p:cNvSpPr txBox="1"/>
          <p:nvPr/>
        </p:nvSpPr>
        <p:spPr>
          <a:xfrm>
            <a:off x="8229600" y="36438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  <p:sp>
        <p:nvSpPr>
          <p:cNvPr id="14" name="rel-profissionais-pagamentos"/>
          <p:cNvSpPr/>
          <p:nvPr/>
        </p:nvSpPr>
        <p:spPr>
          <a:xfrm>
            <a:off x="4457700" y="2880360"/>
            <a:ext cx="914" cy="548640"/>
          </a:xfrm>
          <a:prstGeom prst="line">
            <a:avLst/>
          </a:prstGeom>
          <a:noFill/>
          <a:ln w="22225">
            <a:solidFill>
              <a:srgbClr val="4B7FA8"/>
            </a:solidFill>
            <a:prstDash val="solid"/>
          </a:ln>
        </p:spPr>
      </p:sp>
      <p:sp>
        <p:nvSpPr>
          <p:cNvPr id="15" name="rot-profissionais-pagamentos"/>
          <p:cNvSpPr txBox="1"/>
          <p:nvPr/>
        </p:nvSpPr>
        <p:spPr>
          <a:xfrm>
            <a:off x="4530852" y="3017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  <p:sp>
        <p:nvSpPr>
          <p:cNvPr id="16" name="rel-usuarios-auditoria"/>
          <p:cNvSpPr/>
          <p:nvPr/>
        </p:nvSpPr>
        <p:spPr>
          <a:xfrm>
            <a:off x="1760220" y="2880360"/>
            <a:ext cx="914" cy="548640"/>
          </a:xfrm>
          <a:prstGeom prst="line">
            <a:avLst/>
          </a:prstGeom>
          <a:noFill/>
          <a:ln w="22225">
            <a:solidFill>
              <a:srgbClr val="4B7FA8"/>
            </a:solidFill>
            <a:prstDash val="solid"/>
          </a:ln>
        </p:spPr>
      </p:sp>
      <p:sp>
        <p:nvSpPr>
          <p:cNvPr id="17" name="rot-usuarios-auditoria"/>
          <p:cNvSpPr txBox="1"/>
          <p:nvPr/>
        </p:nvSpPr>
        <p:spPr>
          <a:xfrm>
            <a:off x="1833372" y="3017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  <p:sp>
        <p:nvSpPr>
          <p:cNvPr id="18" name="tabela-usuarios"/>
          <p:cNvSpPr/>
          <p:nvPr/>
        </p:nvSpPr>
        <p:spPr>
          <a:xfrm>
            <a:off x="548640" y="1828800"/>
            <a:ext cx="2423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9" name="tabela-nome-usuarios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endParaRPr lang="en-US" sz="1700" dirty="0"/>
          </a:p>
        </p:txBody>
      </p:sp>
      <p:sp>
        <p:nvSpPr>
          <p:cNvPr id="20" name="tabela-desc-usuarios"/>
          <p:cNvSpPr txBox="1"/>
          <p:nvPr/>
        </p:nvSpPr>
        <p:spPr>
          <a:xfrm>
            <a:off x="731520" y="23957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perfil</a:t>
            </a:r>
            <a:endParaRPr lang="en-US" sz="1300" dirty="0"/>
          </a:p>
        </p:txBody>
      </p:sp>
      <p:sp>
        <p:nvSpPr>
          <p:cNvPr id="21" name="tabela-profissionais"/>
          <p:cNvSpPr/>
          <p:nvPr/>
        </p:nvSpPr>
        <p:spPr>
          <a:xfrm>
            <a:off x="3246120" y="1828800"/>
            <a:ext cx="2423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2" name="tabela-nome-profissionais"/>
          <p:cNvSpPr txBox="1"/>
          <p:nvPr/>
        </p:nvSpPr>
        <p:spPr>
          <a:xfrm>
            <a:off x="342900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profissionais</a:t>
            </a:r>
            <a:endParaRPr lang="en-US" sz="1700" dirty="0"/>
          </a:p>
        </p:txBody>
      </p:sp>
      <p:sp>
        <p:nvSpPr>
          <p:cNvPr id="23" name="tabela-desc-profissionais"/>
          <p:cNvSpPr txBox="1"/>
          <p:nvPr/>
        </p:nvSpPr>
        <p:spPr>
          <a:xfrm>
            <a:off x="3429000" y="23957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da hora</a:t>
            </a:r>
            <a:endParaRPr lang="en-US" sz="1300" dirty="0"/>
          </a:p>
        </p:txBody>
      </p:sp>
      <p:sp>
        <p:nvSpPr>
          <p:cNvPr id="24" name="tabela-escalas"/>
          <p:cNvSpPr/>
          <p:nvPr/>
        </p:nvSpPr>
        <p:spPr>
          <a:xfrm>
            <a:off x="5943600" y="1828800"/>
            <a:ext cx="2423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5" name="tabela-nome-escalas"/>
          <p:cNvSpPr txBox="1"/>
          <p:nvPr/>
        </p:nvSpPr>
        <p:spPr>
          <a:xfrm>
            <a:off x="612648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escalas</a:t>
            </a:r>
            <a:endParaRPr lang="en-US" sz="1700" dirty="0"/>
          </a:p>
        </p:txBody>
      </p:sp>
      <p:sp>
        <p:nvSpPr>
          <p:cNvPr id="26" name="tabela-desc-escalas"/>
          <p:cNvSpPr txBox="1"/>
          <p:nvPr/>
        </p:nvSpPr>
        <p:spPr>
          <a:xfrm>
            <a:off x="6126480" y="23957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quem, quando, turno</a:t>
            </a:r>
            <a:endParaRPr lang="en-US" sz="1300" dirty="0"/>
          </a:p>
        </p:txBody>
      </p:sp>
      <p:sp>
        <p:nvSpPr>
          <p:cNvPr id="27" name="tabela-pacientes"/>
          <p:cNvSpPr/>
          <p:nvPr/>
        </p:nvSpPr>
        <p:spPr>
          <a:xfrm>
            <a:off x="8641080" y="1828800"/>
            <a:ext cx="2423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8" name="tabela-nome-pacientes"/>
          <p:cNvSpPr txBox="1"/>
          <p:nvPr/>
        </p:nvSpPr>
        <p:spPr>
          <a:xfrm>
            <a:off x="882396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pacientes</a:t>
            </a:r>
            <a:endParaRPr lang="en-US" sz="1700" dirty="0"/>
          </a:p>
        </p:txBody>
      </p:sp>
      <p:sp>
        <p:nvSpPr>
          <p:cNvPr id="29" name="tabela-desc-pacientes"/>
          <p:cNvSpPr txBox="1"/>
          <p:nvPr/>
        </p:nvSpPr>
        <p:spPr>
          <a:xfrm>
            <a:off x="8823960" y="23957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 QR Code</a:t>
            </a:r>
            <a:endParaRPr lang="en-US" sz="1300" dirty="0"/>
          </a:p>
        </p:txBody>
      </p:sp>
      <p:sp>
        <p:nvSpPr>
          <p:cNvPr id="30" name="tabela-auditoria"/>
          <p:cNvSpPr/>
          <p:nvPr/>
        </p:nvSpPr>
        <p:spPr>
          <a:xfrm>
            <a:off x="548640" y="3429000"/>
            <a:ext cx="2423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1" name="tabela-nome-auditoria"/>
          <p:cNvSpPr txBox="1"/>
          <p:nvPr/>
        </p:nvSpPr>
        <p:spPr>
          <a:xfrm>
            <a:off x="73152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</a:t>
            </a:r>
            <a:endParaRPr lang="en-US" sz="1700" dirty="0"/>
          </a:p>
        </p:txBody>
      </p:sp>
      <p:sp>
        <p:nvSpPr>
          <p:cNvPr id="32" name="tabela-desc-auditoria"/>
          <p:cNvSpPr txBox="1"/>
          <p:nvPr/>
        </p:nvSpPr>
        <p:spPr>
          <a:xfrm>
            <a:off x="731520" y="3995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fez o quê</a:t>
            </a:r>
            <a:endParaRPr lang="en-US" sz="1300" dirty="0"/>
          </a:p>
        </p:txBody>
      </p:sp>
      <p:sp>
        <p:nvSpPr>
          <p:cNvPr id="33" name="tabela-pagamentos"/>
          <p:cNvSpPr/>
          <p:nvPr/>
        </p:nvSpPr>
        <p:spPr>
          <a:xfrm>
            <a:off x="3246120" y="3429000"/>
            <a:ext cx="2423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4" name="tabela-nome-pagamentos"/>
          <p:cNvSpPr txBox="1"/>
          <p:nvPr/>
        </p:nvSpPr>
        <p:spPr>
          <a:xfrm>
            <a:off x="342900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pagamentos</a:t>
            </a:r>
            <a:endParaRPr lang="en-US" sz="1700" dirty="0"/>
          </a:p>
        </p:txBody>
      </p:sp>
      <p:sp>
        <p:nvSpPr>
          <p:cNvPr id="35" name="tabela-desc-pagamentos"/>
          <p:cNvSpPr txBox="1"/>
          <p:nvPr/>
        </p:nvSpPr>
        <p:spPr>
          <a:xfrm>
            <a:off x="3429000" y="3995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mês</a:t>
            </a:r>
            <a:endParaRPr lang="en-US" sz="1300" dirty="0"/>
          </a:p>
        </p:txBody>
      </p:sp>
      <p:sp>
        <p:nvSpPr>
          <p:cNvPr id="36" name="tabela-plantoes"/>
          <p:cNvSpPr/>
          <p:nvPr/>
        </p:nvSpPr>
        <p:spPr>
          <a:xfrm>
            <a:off x="5943600" y="3429000"/>
            <a:ext cx="2423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7" name="tabela-nome-plantoes"/>
          <p:cNvSpPr txBox="1"/>
          <p:nvPr/>
        </p:nvSpPr>
        <p:spPr>
          <a:xfrm>
            <a:off x="612648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plantoes</a:t>
            </a:r>
            <a:endParaRPr lang="en-US" sz="1700" dirty="0"/>
          </a:p>
        </p:txBody>
      </p:sp>
      <p:sp>
        <p:nvSpPr>
          <p:cNvPr id="38" name="tabela-desc-plantoes"/>
          <p:cNvSpPr txBox="1"/>
          <p:nvPr/>
        </p:nvSpPr>
        <p:spPr>
          <a:xfrm>
            <a:off x="6126480" y="3995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</a:t>
            </a:r>
            <a:endParaRPr lang="en-US" sz="1300" dirty="0"/>
          </a:p>
        </p:txBody>
      </p:sp>
      <p:sp>
        <p:nvSpPr>
          <p:cNvPr id="39" name="tabela-prontuarios"/>
          <p:cNvSpPr/>
          <p:nvPr/>
        </p:nvSpPr>
        <p:spPr>
          <a:xfrm>
            <a:off x="8641080" y="3429000"/>
            <a:ext cx="2423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40" name="tabela-nome-prontuarios"/>
          <p:cNvSpPr txBox="1"/>
          <p:nvPr/>
        </p:nvSpPr>
        <p:spPr>
          <a:xfrm>
            <a:off x="882396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prontuarios</a:t>
            </a:r>
            <a:endParaRPr lang="en-US" sz="1700" dirty="0"/>
          </a:p>
        </p:txBody>
      </p:sp>
      <p:sp>
        <p:nvSpPr>
          <p:cNvPr id="41" name="tabela-desc-prontuarios"/>
          <p:cNvSpPr txBox="1"/>
          <p:nvPr/>
        </p:nvSpPr>
        <p:spPr>
          <a:xfrm>
            <a:off x="8823960" y="3995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plantão</a:t>
            </a:r>
            <a:endParaRPr lang="en-US" sz="1300" dirty="0"/>
          </a:p>
        </p:txBody>
      </p:sp>
      <p:sp>
        <p:nvSpPr>
          <p:cNvPr id="42" name="selo-LuLayers"/>
          <p:cNvSpPr/>
          <p:nvPr/>
        </p:nvSpPr>
        <p:spPr>
          <a:xfrm>
            <a:off x="548640" y="507492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  <a:ln/>
        </p:spPr>
      </p:sp>
      <p:pic>
        <p:nvPicPr>
          <p:cNvPr id="43" name="icone-LuLay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185562"/>
            <a:ext cx="281635" cy="281635"/>
          </a:xfrm>
          <a:prstGeom prst="rect">
            <a:avLst/>
          </a:prstGeom>
        </p:spPr>
      </p:pic>
      <p:sp>
        <p:nvSpPr>
          <p:cNvPr id="44" name="forte-0"/>
          <p:cNvSpPr txBox="1"/>
          <p:nvPr/>
        </p:nvSpPr>
        <p:spPr>
          <a:xfrm>
            <a:off x="118872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estrangeiras e restrições únicas</a:t>
            </a:r>
            <a:endParaRPr lang="en-US" sz="1350" dirty="0"/>
          </a:p>
        </p:txBody>
      </p:sp>
      <p:sp>
        <p:nvSpPr>
          <p:cNvPr id="45" name="selo-LuShieldCheck"/>
          <p:cNvSpPr/>
          <p:nvPr/>
        </p:nvSpPr>
        <p:spPr>
          <a:xfrm>
            <a:off x="4297680" y="507492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  <a:ln/>
        </p:spPr>
      </p:sp>
      <p:pic>
        <p:nvPicPr>
          <p:cNvPr id="46" name="icone-LuShield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322" y="5185562"/>
            <a:ext cx="281635" cy="281635"/>
          </a:xfrm>
          <a:prstGeom prst="rect">
            <a:avLst/>
          </a:prstGeom>
        </p:spPr>
      </p:pic>
      <p:sp>
        <p:nvSpPr>
          <p:cNvPr id="47" name="forte-1"/>
          <p:cNvSpPr txBox="1"/>
          <p:nvPr/>
        </p:nvSpPr>
        <p:spPr>
          <a:xfrm>
            <a:off x="493776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Transações: o check-in muda 3 tabelas juntas, ou nada</a:t>
            </a:r>
            <a:endParaRPr lang="en-US" sz="1350" dirty="0"/>
          </a:p>
        </p:txBody>
      </p:sp>
      <p:sp>
        <p:nvSpPr>
          <p:cNvPr id="48" name="selo-LuEyeOff"/>
          <p:cNvSpPr/>
          <p:nvPr/>
        </p:nvSpPr>
        <p:spPr>
          <a:xfrm>
            <a:off x="8046720" y="507492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  <a:ln/>
        </p:spPr>
      </p:sp>
      <p:pic>
        <p:nvPicPr>
          <p:cNvPr id="49" name="icone-LuEyeOff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362" y="5185562"/>
            <a:ext cx="281635" cy="281635"/>
          </a:xfrm>
          <a:prstGeom prst="rect">
            <a:avLst/>
          </a:prstGeom>
        </p:spPr>
      </p:pic>
      <p:sp>
        <p:nvSpPr>
          <p:cNvPr id="50" name="forte-2"/>
          <p:cNvSpPr txBox="1"/>
          <p:nvPr/>
        </p:nvSpPr>
        <p:spPr>
          <a:xfrm>
            <a:off x="868680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lógica: o histórico nunca se perde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API REST em camadas e segura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Edital, seção 4.2: API RESTful funcional em Node.js</a:t>
            </a:r>
            <a:endParaRPr lang="en-US" sz="1600" dirty="0"/>
          </a:p>
        </p:txBody>
      </p:sp>
      <p:sp>
        <p:nvSpPr>
          <p:cNvPr id="4" name="camada-api-0"/>
          <p:cNvSpPr/>
          <p:nvPr/>
        </p:nvSpPr>
        <p:spPr>
          <a:xfrm>
            <a:off x="548640" y="1783080"/>
            <a:ext cx="2103120" cy="786384"/>
          </a:xfrm>
          <a:prstGeom prst="roundRect">
            <a:avLst>
              <a:gd name="adj" fmla="val 11628"/>
            </a:avLst>
          </a:prstGeom>
          <a:solidFill>
            <a:srgbClr val="1C2E3E"/>
          </a:solidFill>
          <a:ln/>
        </p:spPr>
      </p:sp>
      <p:sp>
        <p:nvSpPr>
          <p:cNvPr id="5" name="camada-api-nome-0"/>
          <p:cNvSpPr txBox="1"/>
          <p:nvPr/>
        </p:nvSpPr>
        <p:spPr>
          <a:xfrm>
            <a:off x="548640" y="1783080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endParaRPr lang="en-US" sz="1700" dirty="0"/>
          </a:p>
        </p:txBody>
      </p:sp>
      <p:sp>
        <p:nvSpPr>
          <p:cNvPr id="6" name="camada-api-texto-0"/>
          <p:cNvSpPr txBox="1"/>
          <p:nvPr/>
        </p:nvSpPr>
        <p:spPr>
          <a:xfrm>
            <a:off x="2834640" y="178308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caminho e o método (GET, POST, PUT, DELETE)</a:t>
            </a:r>
            <a:endParaRPr lang="en-US" sz="1400" dirty="0"/>
          </a:p>
        </p:txBody>
      </p:sp>
      <p:sp>
        <p:nvSpPr>
          <p:cNvPr id="7" name="camada-api-1"/>
          <p:cNvSpPr/>
          <p:nvPr/>
        </p:nvSpPr>
        <p:spPr>
          <a:xfrm>
            <a:off x="548640" y="2770632"/>
            <a:ext cx="2103120" cy="786384"/>
          </a:xfrm>
          <a:prstGeom prst="roundRect">
            <a:avLst>
              <a:gd name="adj" fmla="val 11628"/>
            </a:avLst>
          </a:prstGeom>
          <a:solidFill>
            <a:srgbClr val="2D4A63"/>
          </a:solidFill>
          <a:ln/>
        </p:spPr>
      </p:sp>
      <p:sp>
        <p:nvSpPr>
          <p:cNvPr id="8" name="camada-api-nome-1"/>
          <p:cNvSpPr txBox="1"/>
          <p:nvPr/>
        </p:nvSpPr>
        <p:spPr>
          <a:xfrm>
            <a:off x="548640" y="2770632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middlewares</a:t>
            </a:r>
            <a:endParaRPr lang="en-US" sz="1700" dirty="0"/>
          </a:p>
        </p:txBody>
      </p:sp>
      <p:sp>
        <p:nvSpPr>
          <p:cNvPr id="9" name="camada-api-texto-1"/>
          <p:cNvSpPr txBox="1"/>
          <p:nvPr/>
        </p:nvSpPr>
        <p:spPr>
          <a:xfrm>
            <a:off x="2834640" y="277063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o login (JWT) e o perfil de quem chama</a:t>
            </a:r>
            <a:endParaRPr lang="en-US" sz="1400" dirty="0"/>
          </a:p>
        </p:txBody>
      </p:sp>
      <p:sp>
        <p:nvSpPr>
          <p:cNvPr id="10" name="camada-api-2"/>
          <p:cNvSpPr/>
          <p:nvPr/>
        </p:nvSpPr>
        <p:spPr>
          <a:xfrm>
            <a:off x="548640" y="3758184"/>
            <a:ext cx="2103120" cy="786384"/>
          </a:xfrm>
          <a:prstGeom prst="roundRect">
            <a:avLst>
              <a:gd name="adj" fmla="val 11628"/>
            </a:avLst>
          </a:prstGeom>
          <a:solidFill>
            <a:srgbClr val="1C2E3E"/>
          </a:solidFill>
          <a:ln/>
        </p:spPr>
      </p:sp>
      <p:sp>
        <p:nvSpPr>
          <p:cNvPr id="11" name="camada-api-nome-2"/>
          <p:cNvSpPr txBox="1"/>
          <p:nvPr/>
        </p:nvSpPr>
        <p:spPr>
          <a:xfrm>
            <a:off x="548640" y="375818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</a:t>
            </a:r>
            <a:endParaRPr lang="en-US" sz="1700" dirty="0"/>
          </a:p>
        </p:txBody>
      </p:sp>
      <p:sp>
        <p:nvSpPr>
          <p:cNvPr id="12" name="camada-api-texto-2"/>
          <p:cNvSpPr txBox="1"/>
          <p:nvPr/>
        </p:nvSpPr>
        <p:spPr>
          <a:xfrm>
            <a:off x="2834640" y="3758184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os dados e aplica as regras de negócio</a:t>
            </a:r>
            <a:endParaRPr lang="en-US" sz="1400" dirty="0"/>
          </a:p>
        </p:txBody>
      </p:sp>
      <p:sp>
        <p:nvSpPr>
          <p:cNvPr id="13" name="camada-api-3"/>
          <p:cNvSpPr/>
          <p:nvPr/>
        </p:nvSpPr>
        <p:spPr>
          <a:xfrm>
            <a:off x="548640" y="4745736"/>
            <a:ext cx="2103120" cy="786384"/>
          </a:xfrm>
          <a:prstGeom prst="roundRect">
            <a:avLst>
              <a:gd name="adj" fmla="val 11628"/>
            </a:avLst>
          </a:prstGeom>
          <a:solidFill>
            <a:srgbClr val="2D4A63"/>
          </a:solidFill>
          <a:ln/>
        </p:spPr>
      </p:sp>
      <p:sp>
        <p:nvSpPr>
          <p:cNvPr id="14" name="camada-api-nome-3"/>
          <p:cNvSpPr txBox="1"/>
          <p:nvPr/>
        </p:nvSpPr>
        <p:spPr>
          <a:xfrm>
            <a:off x="548640" y="4745736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endParaRPr lang="en-US" sz="1700" dirty="0"/>
          </a:p>
        </p:txBody>
      </p:sp>
      <p:sp>
        <p:nvSpPr>
          <p:cNvPr id="15" name="camada-api-texto-3"/>
          <p:cNvSpPr txBox="1"/>
          <p:nvPr/>
        </p:nvSpPr>
        <p:spPr>
          <a:xfrm>
            <a:off x="2834640" y="474573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as consultas SQL (sempre parametrizadas)</a:t>
            </a:r>
            <a:endParaRPr lang="en-US" sz="1400" dirty="0"/>
          </a:p>
        </p:txBody>
      </p:sp>
      <p:sp>
        <p:nvSpPr>
          <p:cNvPr id="16" name="seguranca"/>
          <p:cNvSpPr/>
          <p:nvPr/>
        </p:nvSpPr>
        <p:spPr>
          <a:xfrm>
            <a:off x="6217920" y="1783080"/>
            <a:ext cx="5394960" cy="3749040"/>
          </a:xfrm>
          <a:prstGeom prst="roundRect">
            <a:avLst>
              <a:gd name="adj" fmla="val 243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7" name="selo-LuLock"/>
          <p:cNvSpPr/>
          <p:nvPr/>
        </p:nvSpPr>
        <p:spPr>
          <a:xfrm>
            <a:off x="6492240" y="201168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18" name="icone-Lu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964" y="2136404"/>
            <a:ext cx="317480" cy="317480"/>
          </a:xfrm>
          <a:prstGeom prst="rect">
            <a:avLst/>
          </a:prstGeom>
        </p:spPr>
      </p:pic>
      <p:sp>
        <p:nvSpPr>
          <p:cNvPr id="19" name="titulo-seguranca"/>
          <p:cNvSpPr txBox="1"/>
          <p:nvPr/>
        </p:nvSpPr>
        <p:spPr>
          <a:xfrm>
            <a:off x="722376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qualidade</a:t>
            </a:r>
            <a:endParaRPr lang="en-US" sz="1900" dirty="0"/>
          </a:p>
        </p:txBody>
      </p:sp>
      <p:sp>
        <p:nvSpPr>
          <p:cNvPr id="20" name="itens-seguranca"/>
          <p:cNvSpPr txBox="1"/>
          <p:nvPr/>
        </p:nvSpPr>
        <p:spPr>
          <a:xfrm>
            <a:off x="6537960" y="2743200"/>
            <a:ext cx="4892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com bcrypt e login com JWT (expira em 8h)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por perfil checadas na API: 39 regras testadas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tentativas de login e cabeçalhos helmet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padronizados: 400, 401, 403, 404 e 409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interativa no Swagger (/api/docs)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testes automatizados (npm test)</a:t>
            </a:r>
            <a:endParaRPr lang="en-US" sz="1550" dirty="0"/>
          </a:p>
        </p:txBody>
      </p:sp>
      <p:sp>
        <p:nvSpPr>
          <p:cNvPr id="21" name="auditoria-nota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2" name="texto-auditoria"/>
          <p:cNvSpPr txBox="1"/>
          <p:nvPr/>
        </p:nvSpPr>
        <p:spPr>
          <a:xfrm>
            <a:off x="82296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cadastros, check-in, prontuário e pagamento ficam registrados (quem, o quê e quando)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componentizado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Edital, seção 4.3: componentes reutilizáveis e modulares, sem páginas em arquivo único</a:t>
            </a:r>
            <a:endParaRPr lang="en-US" sz="1600" dirty="0"/>
          </a:p>
        </p:txBody>
      </p:sp>
      <p:sp>
        <p:nvSpPr>
          <p:cNvPr id="4" name="comp-0"/>
          <p:cNvSpPr/>
          <p:nvPr/>
        </p:nvSpPr>
        <p:spPr>
          <a:xfrm>
            <a:off x="548640" y="1783080"/>
            <a:ext cx="333756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5" name="selo-LuCheck"/>
          <p:cNvSpPr/>
          <p:nvPr/>
        </p:nvSpPr>
        <p:spPr>
          <a:xfrm>
            <a:off x="731520" y="1965960"/>
            <a:ext cx="475488" cy="475488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pic>
        <p:nvPicPr>
          <p:cNvPr id="6" name="icone-Lu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2070567"/>
            <a:ext cx="266273" cy="266273"/>
          </a:xfrm>
          <a:prstGeom prst="rect">
            <a:avLst/>
          </a:prstGeom>
        </p:spPr>
      </p:pic>
      <p:sp>
        <p:nvSpPr>
          <p:cNvPr id="7" name="comp-nome-0"/>
          <p:cNvSpPr txBox="1"/>
          <p:nvPr/>
        </p:nvSpPr>
        <p:spPr>
          <a:xfrm>
            <a:off x="137160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600" dirty="0"/>
          </a:p>
        </p:txBody>
      </p:sp>
      <p:sp>
        <p:nvSpPr>
          <p:cNvPr id="8" name="comp-texto-0"/>
          <p:cNvSpPr txBox="1"/>
          <p:nvPr/>
        </p:nvSpPr>
        <p:spPr>
          <a:xfrm>
            <a:off x="1371600" y="2221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Sidebar e Layout</a:t>
            </a:r>
            <a:endParaRPr lang="en-US" sz="1200" dirty="0"/>
          </a:p>
        </p:txBody>
      </p:sp>
      <p:sp>
        <p:nvSpPr>
          <p:cNvPr id="9" name="comp-1"/>
          <p:cNvSpPr/>
          <p:nvPr/>
        </p:nvSpPr>
        <p:spPr>
          <a:xfrm>
            <a:off x="4069080" y="1783080"/>
            <a:ext cx="333756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0" name="selo-LuCheck"/>
          <p:cNvSpPr/>
          <p:nvPr/>
        </p:nvSpPr>
        <p:spPr>
          <a:xfrm>
            <a:off x="4251960" y="1965960"/>
            <a:ext cx="475488" cy="475488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pic>
        <p:nvPicPr>
          <p:cNvPr id="11" name="icone-Lu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567" y="2070567"/>
            <a:ext cx="266273" cy="266273"/>
          </a:xfrm>
          <a:prstGeom prst="rect">
            <a:avLst/>
          </a:prstGeom>
        </p:spPr>
      </p:pic>
      <p:sp>
        <p:nvSpPr>
          <p:cNvPr id="12" name="comp-nome-1"/>
          <p:cNvSpPr txBox="1"/>
          <p:nvPr/>
        </p:nvSpPr>
        <p:spPr>
          <a:xfrm>
            <a:off x="489204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600" dirty="0"/>
          </a:p>
        </p:txBody>
      </p:sp>
      <p:sp>
        <p:nvSpPr>
          <p:cNvPr id="13" name="comp-texto-1"/>
          <p:cNvSpPr txBox="1"/>
          <p:nvPr/>
        </p:nvSpPr>
        <p:spPr>
          <a:xfrm>
            <a:off x="4892040" y="2221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CardPaciente, PainelTecnico</a:t>
            </a:r>
            <a:endParaRPr lang="en-US" sz="1200" dirty="0"/>
          </a:p>
        </p:txBody>
      </p:sp>
      <p:sp>
        <p:nvSpPr>
          <p:cNvPr id="14" name="comp-2"/>
          <p:cNvSpPr/>
          <p:nvPr/>
        </p:nvSpPr>
        <p:spPr>
          <a:xfrm>
            <a:off x="548640" y="2770632"/>
            <a:ext cx="333756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5" name="selo-LuCheck"/>
          <p:cNvSpPr/>
          <p:nvPr/>
        </p:nvSpPr>
        <p:spPr>
          <a:xfrm>
            <a:off x="731520" y="2953512"/>
            <a:ext cx="475488" cy="475488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pic>
        <p:nvPicPr>
          <p:cNvPr id="16" name="icone-Lu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3058119"/>
            <a:ext cx="266273" cy="266273"/>
          </a:xfrm>
          <a:prstGeom prst="rect">
            <a:avLst/>
          </a:prstGeom>
        </p:spPr>
      </p:pic>
      <p:sp>
        <p:nvSpPr>
          <p:cNvPr id="17" name="comp-nome-2"/>
          <p:cNvSpPr txBox="1"/>
          <p:nvPr/>
        </p:nvSpPr>
        <p:spPr>
          <a:xfrm>
            <a:off x="1371600" y="2862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endParaRPr lang="en-US" sz="1600" dirty="0"/>
          </a:p>
        </p:txBody>
      </p:sp>
      <p:sp>
        <p:nvSpPr>
          <p:cNvPr id="18" name="comp-texto-2"/>
          <p:cNvSpPr txBox="1"/>
          <p:nvPr/>
        </p:nvSpPr>
        <p:spPr>
          <a:xfrm>
            <a:off x="1371600" y="32095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+ 4 formulários de cadastro</a:t>
            </a:r>
            <a:endParaRPr lang="en-US" sz="1200" dirty="0"/>
          </a:p>
        </p:txBody>
      </p:sp>
      <p:sp>
        <p:nvSpPr>
          <p:cNvPr id="19" name="comp-3"/>
          <p:cNvSpPr/>
          <p:nvPr/>
        </p:nvSpPr>
        <p:spPr>
          <a:xfrm>
            <a:off x="4069080" y="2770632"/>
            <a:ext cx="333756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0" name="selo-LuCheck"/>
          <p:cNvSpPr/>
          <p:nvPr/>
        </p:nvSpPr>
        <p:spPr>
          <a:xfrm>
            <a:off x="4251960" y="2953512"/>
            <a:ext cx="475488" cy="475488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pic>
        <p:nvPicPr>
          <p:cNvPr id="21" name="icone-Lu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567" y="3058119"/>
            <a:ext cx="266273" cy="266273"/>
          </a:xfrm>
          <a:prstGeom prst="rect">
            <a:avLst/>
          </a:prstGeom>
        </p:spPr>
      </p:pic>
      <p:sp>
        <p:nvSpPr>
          <p:cNvPr id="22" name="comp-nome-3"/>
          <p:cNvSpPr txBox="1"/>
          <p:nvPr/>
        </p:nvSpPr>
        <p:spPr>
          <a:xfrm>
            <a:off x="4892040" y="2862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</a:t>
            </a:r>
            <a:endParaRPr lang="en-US" sz="1600" dirty="0"/>
          </a:p>
        </p:txBody>
      </p:sp>
      <p:sp>
        <p:nvSpPr>
          <p:cNvPr id="23" name="comp-texto-3"/>
          <p:cNvSpPr txBox="1"/>
          <p:nvPr/>
        </p:nvSpPr>
        <p:spPr>
          <a:xfrm>
            <a:off x="4892040" y="32095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com 6 variantes</a:t>
            </a:r>
            <a:endParaRPr lang="en-US" sz="1200" dirty="0"/>
          </a:p>
        </p:txBody>
      </p:sp>
      <p:sp>
        <p:nvSpPr>
          <p:cNvPr id="24" name="comp-4"/>
          <p:cNvSpPr/>
          <p:nvPr/>
        </p:nvSpPr>
        <p:spPr>
          <a:xfrm>
            <a:off x="548640" y="3758184"/>
            <a:ext cx="333756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5" name="selo-LuCheck"/>
          <p:cNvSpPr/>
          <p:nvPr/>
        </p:nvSpPr>
        <p:spPr>
          <a:xfrm>
            <a:off x="731520" y="3941064"/>
            <a:ext cx="475488" cy="475488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pic>
        <p:nvPicPr>
          <p:cNvPr id="26" name="icone-Lu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27" y="4045671"/>
            <a:ext cx="266273" cy="266273"/>
          </a:xfrm>
          <a:prstGeom prst="rect">
            <a:avLst/>
          </a:prstGeom>
        </p:spPr>
      </p:pic>
      <p:sp>
        <p:nvSpPr>
          <p:cNvPr id="27" name="comp-nome-4"/>
          <p:cNvSpPr txBox="1"/>
          <p:nvPr/>
        </p:nvSpPr>
        <p:spPr>
          <a:xfrm>
            <a:off x="1371600" y="3849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600" dirty="0"/>
          </a:p>
        </p:txBody>
      </p:sp>
      <p:sp>
        <p:nvSpPr>
          <p:cNvPr id="28" name="comp-texto-4"/>
          <p:cNvSpPr txBox="1"/>
          <p:nvPr/>
        </p:nvSpPr>
        <p:spPr>
          <a:xfrm>
            <a:off x="1371600" y="41970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+ tabelas por módulo</a:t>
            </a:r>
            <a:endParaRPr lang="en-US" sz="1200" dirty="0"/>
          </a:p>
        </p:txBody>
      </p:sp>
      <p:sp>
        <p:nvSpPr>
          <p:cNvPr id="29" name="comp-5"/>
          <p:cNvSpPr/>
          <p:nvPr/>
        </p:nvSpPr>
        <p:spPr>
          <a:xfrm>
            <a:off x="4069080" y="3758184"/>
            <a:ext cx="333756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0" name="selo-LuCheck"/>
          <p:cNvSpPr/>
          <p:nvPr/>
        </p:nvSpPr>
        <p:spPr>
          <a:xfrm>
            <a:off x="4251960" y="3941064"/>
            <a:ext cx="475488" cy="475488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pic>
        <p:nvPicPr>
          <p:cNvPr id="31" name="icone-Lu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6567" y="4045671"/>
            <a:ext cx="266273" cy="266273"/>
          </a:xfrm>
          <a:prstGeom prst="rect">
            <a:avLst/>
          </a:prstGeom>
        </p:spPr>
      </p:pic>
      <p:sp>
        <p:nvSpPr>
          <p:cNvPr id="32" name="comp-nome-5"/>
          <p:cNvSpPr txBox="1"/>
          <p:nvPr/>
        </p:nvSpPr>
        <p:spPr>
          <a:xfrm>
            <a:off x="4892040" y="3849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</a:t>
            </a:r>
            <a:endParaRPr lang="en-US" sz="1600" dirty="0"/>
          </a:p>
        </p:txBody>
      </p:sp>
      <p:sp>
        <p:nvSpPr>
          <p:cNvPr id="33" name="comp-texto-5"/>
          <p:cNvSpPr txBox="1"/>
          <p:nvPr/>
        </p:nvSpPr>
        <p:spPr>
          <a:xfrm>
            <a:off x="4892040" y="41970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Modal, Confirmação, QR, Demonstrativo</a:t>
            </a:r>
            <a:endParaRPr lang="en-US" sz="1200" dirty="0"/>
          </a:p>
        </p:txBody>
      </p:sp>
      <p:sp>
        <p:nvSpPr>
          <p:cNvPr id="34" name="comp-6"/>
          <p:cNvSpPr/>
          <p:nvPr/>
        </p:nvSpPr>
        <p:spPr>
          <a:xfrm>
            <a:off x="548640" y="4745736"/>
            <a:ext cx="333756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5" name="selo-LuCheck"/>
          <p:cNvSpPr/>
          <p:nvPr/>
        </p:nvSpPr>
        <p:spPr>
          <a:xfrm>
            <a:off x="731520" y="4928616"/>
            <a:ext cx="475488" cy="475488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/>
        </p:spPr>
      </p:sp>
      <p:pic>
        <p:nvPicPr>
          <p:cNvPr id="36" name="icone-LuChec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127" y="5033223"/>
            <a:ext cx="266273" cy="266273"/>
          </a:xfrm>
          <a:prstGeom prst="rect">
            <a:avLst/>
          </a:prstGeom>
        </p:spPr>
      </p:pic>
      <p:sp>
        <p:nvSpPr>
          <p:cNvPr id="37" name="comp-nome-6"/>
          <p:cNvSpPr txBox="1"/>
          <p:nvPr/>
        </p:nvSpPr>
        <p:spPr>
          <a:xfrm>
            <a:off x="1371600" y="4837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600" dirty="0"/>
          </a:p>
        </p:txBody>
      </p:sp>
      <p:sp>
        <p:nvSpPr>
          <p:cNvPr id="38" name="comp-texto-6"/>
          <p:cNvSpPr txBox="1"/>
          <p:nvPr/>
        </p:nvSpPr>
        <p:spPr>
          <a:xfrm>
            <a:off x="1371600" y="51846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em todas as telas</a:t>
            </a:r>
            <a:endParaRPr lang="en-US" sz="1200" dirty="0"/>
          </a:p>
        </p:txBody>
      </p:sp>
      <p:sp>
        <p:nvSpPr>
          <p:cNvPr id="39" name="organizacao"/>
          <p:cNvSpPr/>
          <p:nvPr/>
        </p:nvSpPr>
        <p:spPr>
          <a:xfrm>
            <a:off x="4069080" y="5733288"/>
            <a:ext cx="333756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40" name="texto-organizacao"/>
          <p:cNvSpPr txBox="1"/>
          <p:nvPr/>
        </p:nvSpPr>
        <p:spPr>
          <a:xfrm>
            <a:off x="4069080" y="573328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 → components → services</a:t>
            </a:r>
            <a:endParaRPr lang="en-US" sz="1300" dirty="0"/>
          </a:p>
        </p:txBody>
      </p:sp>
      <p:pic>
        <p:nvPicPr>
          <p:cNvPr id="41" name="print-celular" descr="C:\Users\ClaudeirZ2\AppData\Local\Temp\claude\C--Users-ClaudeirZ2-PycharmProjects-Curso-Recode-homecare-flow\925409f3-b663-466e-aa0b-b8662a4dc5e0\scratchpad\slides\img\celul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1737360"/>
            <a:ext cx="2157984" cy="442569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C2E3E">
                <a:alpha val="18000"/>
              </a:srgbClr>
            </a:outerShdw>
          </a:effectLst>
        </p:spPr>
      </p:pic>
      <p:sp>
        <p:nvSpPr>
          <p:cNvPr id="42" name="texto-pwa"/>
          <p:cNvSpPr txBox="1"/>
          <p:nvPr/>
        </p:nvSpPr>
        <p:spPr>
          <a:xfrm>
            <a:off x="10332720" y="1828800"/>
            <a:ext cx="1417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20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no celular, abre em tela cheia e funciona com internet ruim. No celular, as tabelas viram cartões.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do edital: todos atendidos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do documento "Projeto Final — Aranduê" e como o Home Care Flow responde</a:t>
            </a:r>
            <a:endParaRPr lang="en-US" sz="1600" dirty="0"/>
          </a:p>
        </p:txBody>
      </p:sp>
      <p:graphicFrame>
        <p:nvGraphicFramePr>
          <p:cNvPr id="16" name="tabela-requisi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  <a:gridCol w="457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do edital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o projeto atende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Tema e 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 8 (principal) e ODS 10 (complementar)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Restrições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autorizado; foco na gestão do trabalho; pacientes só 18+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Tecnologias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 · Node.js + Express · React (Vite)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Banco de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tabelas com chaves estrangeiras e transações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Backend (CRUD)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CRUDs completos integrados ao front (pede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7 componentes pedidos, reutilizados em todas as telas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Apresentação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Problema, ODS, público-alvo e impacto explicados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A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umero-0"/>
          <p:cNvSpPr/>
          <p:nvPr/>
        </p:nvSpPr>
        <p:spPr>
          <a:xfrm>
            <a:off x="7863840" y="1737360"/>
            <a:ext cx="1783080" cy="182880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6" name="numero-valor-0"/>
          <p:cNvSpPr txBox="1"/>
          <p:nvPr/>
        </p:nvSpPr>
        <p:spPr>
          <a:xfrm>
            <a:off x="7863840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numero-rotulo-0"/>
          <p:cNvSpPr txBox="1"/>
          <p:nvPr/>
        </p:nvSpPr>
        <p:spPr>
          <a:xfrm>
            <a:off x="8001000" y="28346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CRUDs completos</a:t>
            </a:r>
            <a:endParaRPr lang="en-US" sz="1300" dirty="0"/>
          </a:p>
        </p:txBody>
      </p:sp>
      <p:sp>
        <p:nvSpPr>
          <p:cNvPr id="8" name="numero-1"/>
          <p:cNvSpPr/>
          <p:nvPr/>
        </p:nvSpPr>
        <p:spPr>
          <a:xfrm>
            <a:off x="9784080" y="1737360"/>
            <a:ext cx="1783080" cy="182880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9" name="numero-valor-1"/>
          <p:cNvSpPr txBox="1"/>
          <p:nvPr/>
        </p:nvSpPr>
        <p:spPr>
          <a:xfrm>
            <a:off x="9784080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numero-rotulo-1"/>
          <p:cNvSpPr txBox="1"/>
          <p:nvPr/>
        </p:nvSpPr>
        <p:spPr>
          <a:xfrm>
            <a:off x="9921240" y="28346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no MySQL</a:t>
            </a:r>
            <a:endParaRPr lang="en-US" sz="1300" dirty="0"/>
          </a:p>
        </p:txBody>
      </p:sp>
      <p:sp>
        <p:nvSpPr>
          <p:cNvPr id="11" name="numero-2"/>
          <p:cNvSpPr/>
          <p:nvPr/>
        </p:nvSpPr>
        <p:spPr>
          <a:xfrm>
            <a:off x="7863840" y="3749040"/>
            <a:ext cx="1783080" cy="182880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2" name="numero-valor-2"/>
          <p:cNvSpPr txBox="1"/>
          <p:nvPr/>
        </p:nvSpPr>
        <p:spPr>
          <a:xfrm>
            <a:off x="7863840" y="3931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4800" dirty="0"/>
          </a:p>
        </p:txBody>
      </p:sp>
      <p:sp>
        <p:nvSpPr>
          <p:cNvPr id="13" name="numero-rotulo-2"/>
          <p:cNvSpPr txBox="1"/>
          <p:nvPr/>
        </p:nvSpPr>
        <p:spPr>
          <a:xfrm>
            <a:off x="8001000" y="4846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acesso testadas</a:t>
            </a:r>
            <a:endParaRPr lang="en-US" sz="1300" dirty="0"/>
          </a:p>
        </p:txBody>
      </p:sp>
      <p:sp>
        <p:nvSpPr>
          <p:cNvPr id="14" name="numero-3"/>
          <p:cNvSpPr/>
          <p:nvPr/>
        </p:nvSpPr>
        <p:spPr>
          <a:xfrm>
            <a:off x="9784080" y="3749040"/>
            <a:ext cx="1783080" cy="1828800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5" name="numero-valor-3"/>
          <p:cNvSpPr txBox="1"/>
          <p:nvPr/>
        </p:nvSpPr>
        <p:spPr>
          <a:xfrm>
            <a:off x="9784080" y="3931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800" dirty="0"/>
          </a:p>
        </p:txBody>
      </p:sp>
      <p:sp>
        <p:nvSpPr>
          <p:cNvPr id="16" name="numero-rotulo-3"/>
          <p:cNvSpPr txBox="1"/>
          <p:nvPr/>
        </p:nvSpPr>
        <p:spPr>
          <a:xfrm>
            <a:off x="9921240" y="4846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avaliação: as evidências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Edital, seção 6: o que a comissão avalia e onde isso aparece no projeto</a:t>
            </a:r>
            <a:endParaRPr lang="en-US" sz="1600" dirty="0"/>
          </a:p>
        </p:txBody>
      </p:sp>
      <p:sp>
        <p:nvSpPr>
          <p:cNvPr id="4" name="criterio-0"/>
          <p:cNvSpPr/>
          <p:nvPr/>
        </p:nvSpPr>
        <p:spPr>
          <a:xfrm>
            <a:off x="548640" y="1783080"/>
            <a:ext cx="35204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5" name="selo-LuLayers"/>
          <p:cNvSpPr/>
          <p:nvPr/>
        </p:nvSpPr>
        <p:spPr>
          <a:xfrm>
            <a:off x="822960" y="205740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6" name="icone-LuLay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182124"/>
            <a:ext cx="317480" cy="317480"/>
          </a:xfrm>
          <a:prstGeom prst="rect">
            <a:avLst/>
          </a:prstGeom>
        </p:spPr>
      </p:pic>
      <p:sp>
        <p:nvSpPr>
          <p:cNvPr id="7" name="criterio-nome-0"/>
          <p:cNvSpPr txBox="1"/>
          <p:nvPr/>
        </p:nvSpPr>
        <p:spPr>
          <a:xfrm>
            <a:off x="1554480" y="2057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arquitetura</a:t>
            </a:r>
            <a:endParaRPr lang="en-US" sz="1600" dirty="0"/>
          </a:p>
        </p:txBody>
      </p:sp>
      <p:sp>
        <p:nvSpPr>
          <p:cNvPr id="8" name="criterio-texto-0"/>
          <p:cNvSpPr txBox="1"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no back; pages, components e services no front</a:t>
            </a:r>
            <a:endParaRPr lang="en-US" sz="1300" dirty="0"/>
          </a:p>
        </p:txBody>
      </p:sp>
      <p:sp>
        <p:nvSpPr>
          <p:cNvPr id="9" name="criterio-1"/>
          <p:cNvSpPr/>
          <p:nvPr/>
        </p:nvSpPr>
        <p:spPr>
          <a:xfrm>
            <a:off x="4297680" y="1783080"/>
            <a:ext cx="35204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0" name="selo-LuSmartphone"/>
          <p:cNvSpPr/>
          <p:nvPr/>
        </p:nvSpPr>
        <p:spPr>
          <a:xfrm>
            <a:off x="4572000" y="205740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11" name="icone-LuSmart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724" y="2182124"/>
            <a:ext cx="317480" cy="317480"/>
          </a:xfrm>
          <a:prstGeom prst="rect">
            <a:avLst/>
          </a:prstGeom>
        </p:spPr>
      </p:pic>
      <p:sp>
        <p:nvSpPr>
          <p:cNvPr id="12" name="criterio-nome-1"/>
          <p:cNvSpPr txBox="1"/>
          <p:nvPr/>
        </p:nvSpPr>
        <p:spPr>
          <a:xfrm>
            <a:off x="5303520" y="2057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e fluidez</a:t>
            </a:r>
            <a:endParaRPr lang="en-US" sz="1600" dirty="0"/>
          </a:p>
        </p:txBody>
      </p:sp>
      <p:sp>
        <p:nvSpPr>
          <p:cNvPr id="13" name="criterio-texto-1"/>
          <p:cNvSpPr txBox="1"/>
          <p:nvPr/>
        </p:nvSpPr>
        <p:spPr>
          <a:xfrm>
            <a:off x="457200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nuvem, avisos claros, funciona no celular (PWA)</a:t>
            </a:r>
            <a:endParaRPr lang="en-US" sz="1300" dirty="0"/>
          </a:p>
        </p:txBody>
      </p:sp>
      <p:sp>
        <p:nvSpPr>
          <p:cNvPr id="14" name="criterio-2"/>
          <p:cNvSpPr/>
          <p:nvPr/>
        </p:nvSpPr>
        <p:spPr>
          <a:xfrm>
            <a:off x="8046720" y="1783080"/>
            <a:ext cx="35204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5" name="selo-LuBookOpen"/>
          <p:cNvSpPr/>
          <p:nvPr/>
        </p:nvSpPr>
        <p:spPr>
          <a:xfrm>
            <a:off x="8321040" y="205740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16" name="icone-LuBookOp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764" y="2182124"/>
            <a:ext cx="317480" cy="317480"/>
          </a:xfrm>
          <a:prstGeom prst="rect">
            <a:avLst/>
          </a:prstGeom>
        </p:spPr>
      </p:pic>
      <p:sp>
        <p:nvSpPr>
          <p:cNvPr id="17" name="criterio-nome-2"/>
          <p:cNvSpPr txBox="1"/>
          <p:nvPr/>
        </p:nvSpPr>
        <p:spPr>
          <a:xfrm>
            <a:off x="9052560" y="2057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 código</a:t>
            </a:r>
            <a:endParaRPr lang="en-US" sz="1600" dirty="0"/>
          </a:p>
        </p:txBody>
      </p:sp>
      <p:sp>
        <p:nvSpPr>
          <p:cNvPr id="18" name="criterio-texto-2"/>
          <p:cNvSpPr txBox="1"/>
          <p:nvPr/>
        </p:nvSpPr>
        <p:spPr>
          <a:xfrm>
            <a:off x="832104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Validações, transações, testes e Swagger</a:t>
            </a:r>
            <a:endParaRPr lang="en-US" sz="1300" dirty="0"/>
          </a:p>
        </p:txBody>
      </p:sp>
      <p:sp>
        <p:nvSpPr>
          <p:cNvPr id="19" name="criterio-3"/>
          <p:cNvSpPr/>
          <p:nvPr/>
        </p:nvSpPr>
        <p:spPr>
          <a:xfrm>
            <a:off x="54864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0" name="selo-LuTarget"/>
          <p:cNvSpPr/>
          <p:nvPr/>
        </p:nvSpPr>
        <p:spPr>
          <a:xfrm>
            <a:off x="822960" y="393192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21" name="icone-Lu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84" y="4056644"/>
            <a:ext cx="317480" cy="317480"/>
          </a:xfrm>
          <a:prstGeom prst="rect">
            <a:avLst/>
          </a:prstGeom>
        </p:spPr>
      </p:pic>
      <p:sp>
        <p:nvSpPr>
          <p:cNvPr id="22" name="criterio-nome-3"/>
          <p:cNvSpPr txBox="1"/>
          <p:nvPr/>
        </p:nvSpPr>
        <p:spPr>
          <a:xfrm>
            <a:off x="1554480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da proposta</a:t>
            </a:r>
            <a:endParaRPr lang="en-US" sz="1600" dirty="0"/>
          </a:p>
        </p:txBody>
      </p:sp>
      <p:sp>
        <p:nvSpPr>
          <p:cNvPr id="23" name="criterio-texto-3"/>
          <p:cNvSpPr txBox="1"/>
          <p:nvPr/>
        </p:nvSpPr>
        <p:spPr>
          <a:xfrm>
            <a:off x="822960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concreto e solução da escala ao pagamento</a:t>
            </a:r>
            <a:endParaRPr lang="en-US" sz="1300" dirty="0"/>
          </a:p>
        </p:txBody>
      </p:sp>
      <p:sp>
        <p:nvSpPr>
          <p:cNvPr id="24" name="criterio-4"/>
          <p:cNvSpPr/>
          <p:nvPr/>
        </p:nvSpPr>
        <p:spPr>
          <a:xfrm>
            <a:off x="429768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5" name="selo-LuSparkles"/>
          <p:cNvSpPr/>
          <p:nvPr/>
        </p:nvSpPr>
        <p:spPr>
          <a:xfrm>
            <a:off x="4572000" y="393192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26" name="icone-LuSparkle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724" y="4056644"/>
            <a:ext cx="317480" cy="317480"/>
          </a:xfrm>
          <a:prstGeom prst="rect">
            <a:avLst/>
          </a:prstGeom>
        </p:spPr>
      </p:pic>
      <p:sp>
        <p:nvSpPr>
          <p:cNvPr id="27" name="criterio-nome-4"/>
          <p:cNvSpPr txBox="1"/>
          <p:nvPr/>
        </p:nvSpPr>
        <p:spPr>
          <a:xfrm>
            <a:off x="5303520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</a:t>
            </a:r>
            <a:endParaRPr lang="en-US" sz="1600" dirty="0"/>
          </a:p>
        </p:txBody>
      </p:sp>
      <p:sp>
        <p:nvSpPr>
          <p:cNvPr id="28" name="criterio-texto-4"/>
          <p:cNvSpPr txBox="1"/>
          <p:nvPr/>
        </p:nvSpPr>
        <p:spPr>
          <a:xfrm>
            <a:off x="4572000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da casa, GPS com distância, "Meus ganhos"</a:t>
            </a:r>
            <a:endParaRPr lang="en-US" sz="1300" dirty="0"/>
          </a:p>
        </p:txBody>
      </p:sp>
      <p:sp>
        <p:nvSpPr>
          <p:cNvPr id="29" name="criterio-5"/>
          <p:cNvSpPr/>
          <p:nvPr/>
        </p:nvSpPr>
        <p:spPr>
          <a:xfrm>
            <a:off x="8046720" y="3657600"/>
            <a:ext cx="35204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30" name="selo-LuHeartHandshake"/>
          <p:cNvSpPr/>
          <p:nvPr/>
        </p:nvSpPr>
        <p:spPr>
          <a:xfrm>
            <a:off x="8321040" y="393192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31" name="icone-LuHeartHandshak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764" y="4056644"/>
            <a:ext cx="317480" cy="317480"/>
          </a:xfrm>
          <a:prstGeom prst="rect">
            <a:avLst/>
          </a:prstGeom>
        </p:spPr>
      </p:pic>
      <p:sp>
        <p:nvSpPr>
          <p:cNvPr id="32" name="criterio-nome-5"/>
          <p:cNvSpPr txBox="1"/>
          <p:nvPr/>
        </p:nvSpPr>
        <p:spPr>
          <a:xfrm>
            <a:off x="9052560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1600" dirty="0"/>
          </a:p>
        </p:txBody>
      </p:sp>
      <p:sp>
        <p:nvSpPr>
          <p:cNvPr id="33" name="criterio-texto-5"/>
          <p:cNvSpPr txBox="1"/>
          <p:nvPr/>
        </p:nvSpPr>
        <p:spPr>
          <a:xfrm>
            <a:off x="8321040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comprovadas e renda previsível (ODS 8 e 10)</a:t>
            </a:r>
            <a:endParaRPr lang="en-US" sz="1300" dirty="0"/>
          </a:p>
        </p:txBody>
      </p:sp>
      <p:sp>
        <p:nvSpPr>
          <p:cNvPr id="34" name="faixa-integracao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C2E3E"/>
          </a:solidFill>
          <a:ln/>
        </p:spPr>
      </p:sp>
      <p:sp>
        <p:nvSpPr>
          <p:cNvPr id="35" name="texto-integracao"/>
          <p:cNvSpPr txBox="1"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E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front + back + banco: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da tela chama a API, que grava no MySQL, e você acabou de ver isso ao vivo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097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faria com mais tempo para levar o sistema a uma empresa real</a:t>
            </a:r>
            <a:endParaRPr lang="en-US" sz="1600" dirty="0"/>
          </a:p>
        </p:txBody>
      </p:sp>
      <p:sp>
        <p:nvSpPr>
          <p:cNvPr id="4" name="passo-0"/>
          <p:cNvSpPr/>
          <p:nvPr/>
        </p:nvSpPr>
        <p:spPr>
          <a:xfrm>
            <a:off x="548640" y="182880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5" name="passo-num-0"/>
          <p:cNvSpPr txBox="1"/>
          <p:nvPr/>
        </p:nvSpPr>
        <p:spPr>
          <a:xfrm>
            <a:off x="868680" y="2103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elo-LuWifiOff"/>
          <p:cNvSpPr/>
          <p:nvPr/>
        </p:nvSpPr>
        <p:spPr>
          <a:xfrm>
            <a:off x="5120640" y="210312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7" name="icone-LuWifiOf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364" y="2227844"/>
            <a:ext cx="317480" cy="317480"/>
          </a:xfrm>
          <a:prstGeom prst="rect">
            <a:avLst/>
          </a:prstGeom>
        </p:spPr>
      </p:pic>
      <p:sp>
        <p:nvSpPr>
          <p:cNvPr id="8" name="passo-titulo-0"/>
          <p:cNvSpPr txBox="1"/>
          <p:nvPr/>
        </p:nvSpPr>
        <p:spPr>
          <a:xfrm>
            <a:off x="86868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que funciona sem internet</a:t>
            </a:r>
            <a:endParaRPr lang="en-US" sz="1900" dirty="0"/>
          </a:p>
        </p:txBody>
      </p:sp>
      <p:sp>
        <p:nvSpPr>
          <p:cNvPr id="9" name="passo-texto-0"/>
          <p:cNvSpPr txBox="1"/>
          <p:nvPr/>
        </p:nvSpPr>
        <p:spPr>
          <a:xfrm>
            <a:off x="868680" y="31546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o check-in e o prontuário no celular e enviar quando a conexão voltar</a:t>
            </a:r>
            <a:endParaRPr lang="en-US" sz="1500" dirty="0"/>
          </a:p>
        </p:txBody>
      </p:sp>
      <p:sp>
        <p:nvSpPr>
          <p:cNvPr id="10" name="passo-1"/>
          <p:cNvSpPr/>
          <p:nvPr/>
        </p:nvSpPr>
        <p:spPr>
          <a:xfrm>
            <a:off x="6172200" y="182880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1" name="passo-num-1"/>
          <p:cNvSpPr txBox="1"/>
          <p:nvPr/>
        </p:nvSpPr>
        <p:spPr>
          <a:xfrm>
            <a:off x="6492240" y="2103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elo-LuMap"/>
          <p:cNvSpPr/>
          <p:nvPr/>
        </p:nvSpPr>
        <p:spPr>
          <a:xfrm>
            <a:off x="10744200" y="210312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13" name="icone-LuMa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8924" y="2227844"/>
            <a:ext cx="317480" cy="317480"/>
          </a:xfrm>
          <a:prstGeom prst="rect">
            <a:avLst/>
          </a:prstGeom>
        </p:spPr>
      </p:pic>
      <p:sp>
        <p:nvSpPr>
          <p:cNvPr id="14" name="passo-titulo-1"/>
          <p:cNvSpPr txBox="1"/>
          <p:nvPr/>
        </p:nvSpPr>
        <p:spPr>
          <a:xfrm>
            <a:off x="649224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pelo endereço</a:t>
            </a:r>
            <a:endParaRPr lang="en-US" sz="1900" dirty="0"/>
          </a:p>
        </p:txBody>
      </p:sp>
      <p:sp>
        <p:nvSpPr>
          <p:cNvPr id="15" name="passo-texto-1"/>
          <p:cNvSpPr txBox="1"/>
          <p:nvPr/>
        </p:nvSpPr>
        <p:spPr>
          <a:xfrm>
            <a:off x="6492240" y="31546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 localização da casa automaticamente, sem depender do GPS do gestor</a:t>
            </a:r>
            <a:endParaRPr lang="en-US" sz="1500" dirty="0"/>
          </a:p>
        </p:txBody>
      </p:sp>
      <p:sp>
        <p:nvSpPr>
          <p:cNvPr id="16" name="passo-2"/>
          <p:cNvSpPr/>
          <p:nvPr/>
        </p:nvSpPr>
        <p:spPr>
          <a:xfrm>
            <a:off x="548640" y="406908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17" name="passo-num-2"/>
          <p:cNvSpPr txBox="1"/>
          <p:nvPr/>
        </p:nvSpPr>
        <p:spPr>
          <a:xfrm>
            <a:off x="868680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elo-LuBell"/>
          <p:cNvSpPr/>
          <p:nvPr/>
        </p:nvSpPr>
        <p:spPr>
          <a:xfrm>
            <a:off x="5120640" y="434340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19" name="icone-LuBel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364" y="4468124"/>
            <a:ext cx="317480" cy="317480"/>
          </a:xfrm>
          <a:prstGeom prst="rect">
            <a:avLst/>
          </a:prstGeom>
        </p:spPr>
      </p:pic>
      <p:sp>
        <p:nvSpPr>
          <p:cNvPr id="20" name="passo-titulo-2"/>
          <p:cNvSpPr txBox="1"/>
          <p:nvPr/>
        </p:nvSpPr>
        <p:spPr>
          <a:xfrm>
            <a:off x="86868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900" dirty="0"/>
          </a:p>
        </p:txBody>
      </p:sp>
      <p:sp>
        <p:nvSpPr>
          <p:cNvPr id="21" name="passo-texto-2"/>
          <p:cNvSpPr txBox="1"/>
          <p:nvPr/>
        </p:nvSpPr>
        <p:spPr>
          <a:xfrm>
            <a:off x="868680" y="5394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do plantão para o cuidador e aviso de pagamento</a:t>
            </a:r>
            <a:endParaRPr lang="en-US" sz="1500" dirty="0"/>
          </a:p>
        </p:txBody>
      </p:sp>
      <p:sp>
        <p:nvSpPr>
          <p:cNvPr id="22" name="passo-3"/>
          <p:cNvSpPr/>
          <p:nvPr/>
        </p:nvSpPr>
        <p:spPr>
          <a:xfrm>
            <a:off x="6172200" y="406908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1C2E3E">
                <a:alpha val="8000"/>
              </a:srgbClr>
            </a:outerShdw>
          </a:effectLst>
        </p:spPr>
      </p:sp>
      <p:sp>
        <p:nvSpPr>
          <p:cNvPr id="23" name="passo-num-3"/>
          <p:cNvSpPr txBox="1"/>
          <p:nvPr/>
        </p:nvSpPr>
        <p:spPr>
          <a:xfrm>
            <a:off x="6492240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elo-LuKeyRound"/>
          <p:cNvSpPr/>
          <p:nvPr/>
        </p:nvSpPr>
        <p:spPr>
          <a:xfrm>
            <a:off x="10744200" y="4343400"/>
            <a:ext cx="566928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pic>
        <p:nvPicPr>
          <p:cNvPr id="25" name="icone-LuKeyRoun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8924" y="4468124"/>
            <a:ext cx="317480" cy="317480"/>
          </a:xfrm>
          <a:prstGeom prst="rect">
            <a:avLst/>
          </a:prstGeom>
        </p:spPr>
      </p:pic>
      <p:sp>
        <p:nvSpPr>
          <p:cNvPr id="26" name="passo-titulo-3"/>
          <p:cNvSpPr txBox="1"/>
          <p:nvPr/>
        </p:nvSpPr>
        <p:spPr>
          <a:xfrm>
            <a:off x="649224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 e LGPD</a:t>
            </a:r>
            <a:endParaRPr lang="en-US" sz="1900" dirty="0"/>
          </a:p>
        </p:txBody>
      </p:sp>
      <p:sp>
        <p:nvSpPr>
          <p:cNvPr id="27" name="passo-texto-3"/>
          <p:cNvSpPr txBox="1"/>
          <p:nvPr/>
        </p:nvSpPr>
        <p:spPr>
          <a:xfrm>
            <a:off x="6492240" y="5394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senha por e-mail e termo de consentimento da família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final" descr="C:\Users\ClaudeirZ2\AppData\Local\Temp\claude\C--Users-ClaudeirZ2-PycharmProjects-Curso-Recode-homecare-flow\925409f3-b663-466e-aa0b-b8662a4dc5e0\scratchpad\slides\img\logo-ic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1005840" cy="996696"/>
          </a:xfrm>
          <a:prstGeom prst="rect">
            <a:avLst/>
          </a:prstGeom>
        </p:spPr>
      </p:pic>
      <p:sp>
        <p:nvSpPr>
          <p:cNvPr id="3" name="mensagem-final"/>
          <p:cNvSpPr txBox="1"/>
          <p:nvPr/>
        </p:nvSpPr>
        <p:spPr>
          <a:xfrm>
            <a:off x="822960" y="20574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simples, bem aplicada, dá dignidade e transparência para quem cuida</a:t>
            </a:r>
            <a:endParaRPr lang="en-US" sz="3600" dirty="0"/>
          </a:p>
        </p:txBody>
      </p:sp>
      <p:sp>
        <p:nvSpPr>
          <p:cNvPr id="4" name="obrigado"/>
          <p:cNvSpPr txBox="1"/>
          <p:nvPr/>
        </p:nvSpPr>
        <p:spPr>
          <a:xfrm>
            <a:off x="822960" y="4069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EE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Fico à disposição para perguntas.</a:t>
            </a:r>
            <a:endParaRPr lang="en-US" sz="2200" dirty="0"/>
          </a:p>
        </p:txBody>
      </p:sp>
      <p:sp>
        <p:nvSpPr>
          <p:cNvPr id="5" name="contato-final"/>
          <p:cNvSpPr txBox="1"/>
          <p:nvPr/>
        </p:nvSpPr>
        <p:spPr>
          <a:xfrm>
            <a:off x="822960" y="5257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Claudeir dos Santos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github.com/ClaudeirZ2/homecare_flow</a:t>
            </a:r>
            <a:endParaRPr lang="en-US" sz="1800" dirty="0"/>
          </a:p>
        </p:txBody>
      </p:sp>
      <p:sp>
        <p:nvSpPr>
          <p:cNvPr id="6" name="fundo-qr"/>
          <p:cNvSpPr/>
          <p:nvPr/>
        </p:nvSpPr>
        <p:spPr>
          <a:xfrm>
            <a:off x="8503920" y="1188720"/>
            <a:ext cx="2971800" cy="411480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</p:spPr>
      </p:sp>
      <p:pic>
        <p:nvPicPr>
          <p:cNvPr id="7" name="qr-site" descr="C:\Users\ClaudeirZ2\AppData\Local\Temp\claude\C--Users-ClaudeirZ2-PycharmProjects-Curso-Recode-homecare-flow\925409f3-b663-466e-aa0b-b8662a4dc5e0\scratchpad\slides\img\qr-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17320"/>
            <a:ext cx="2514600" cy="2514600"/>
          </a:xfrm>
          <a:prstGeom prst="rect">
            <a:avLst/>
          </a:prstGeom>
        </p:spPr>
      </p:pic>
      <p:sp>
        <p:nvSpPr>
          <p:cNvPr id="8" name="texto-qr"/>
          <p:cNvSpPr txBox="1"/>
          <p:nvPr/>
        </p:nvSpPr>
        <p:spPr>
          <a:xfrm>
            <a:off x="8641080" y="4069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pelo celular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homecare-flow.vercel.app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123456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 Care Flow">
  <a:themeElements>
    <a:clrScheme name="Home Care Flow">
      <a:dk1>
        <a:srgbClr val="1E293B"/>
      </a:dk1>
      <a:lt1>
        <a:srgbClr val="FFFFFF"/>
      </a:lt1>
      <a:dk2>
        <a:srgbClr val="1C2E3E"/>
      </a:dk2>
      <a:lt2>
        <a:srgbClr val="F5F7FA"/>
      </a:lt2>
      <a:accent1>
        <a:srgbClr val="1FA88A"/>
      </a:accent1>
      <a:accent2>
        <a:srgbClr val="4B7FA8"/>
      </a:accent2>
      <a:accent3>
        <a:srgbClr val="2D4A63"/>
      </a:accent3>
      <a:accent4>
        <a:srgbClr val="E7F6F2"/>
      </a:accent4>
      <a:accent5>
        <a:srgbClr val="B45309"/>
      </a:accent5>
      <a:accent6>
        <a:srgbClr val="64748B"/>
      </a:accent6>
      <a:hlink>
        <a:srgbClr val="188F75"/>
      </a:hlink>
      <a:folHlink>
        <a:srgbClr val="4B7FA8"/>
      </a:folHlink>
    </a:clrScheme>
    <a:fontScheme name="Home Care Flo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Projeto Final Aranduê — Recode Pro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Care Flow — Projeto Final</dc:title>
  <dc:subject>PptxGenJS Presentation</dc:subject>
  <dc:creator>Claudeir dos Santos</dc:creator>
  <cp:lastModifiedBy>Claudeir dos Santos</cp:lastModifiedBy>
  <cp:revision>1</cp:revision>
  <dcterms:created xsi:type="dcterms:W3CDTF">2026-10-24T15:55:41Z</dcterms:created>
  <dcterms:modified xsi:type="dcterms:W3CDTF">2026-10-24T15:55:41Z</dcterms:modified>
</cp:coreProperties>
</file>